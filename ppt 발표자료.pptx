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5" r:id="rId2"/>
    <p:sldId id="290" r:id="rId3"/>
    <p:sldId id="269" r:id="rId4"/>
    <p:sldId id="268" r:id="rId5"/>
    <p:sldId id="273" r:id="rId6"/>
    <p:sldId id="276" r:id="rId7"/>
    <p:sldId id="271" r:id="rId8"/>
    <p:sldId id="321" r:id="rId9"/>
    <p:sldId id="322" r:id="rId10"/>
    <p:sldId id="323" r:id="rId11"/>
    <p:sldId id="324" r:id="rId12"/>
    <p:sldId id="327" r:id="rId13"/>
    <p:sldId id="280" r:id="rId14"/>
    <p:sldId id="328" r:id="rId15"/>
    <p:sldId id="317" r:id="rId16"/>
    <p:sldId id="325" r:id="rId17"/>
    <p:sldId id="286" r:id="rId18"/>
    <p:sldId id="326" r:id="rId19"/>
    <p:sldId id="330" r:id="rId20"/>
    <p:sldId id="329" r:id="rId21"/>
    <p:sldId id="331" r:id="rId22"/>
    <p:sldId id="332" r:id="rId23"/>
    <p:sldId id="333" r:id="rId24"/>
    <p:sldId id="270" r:id="rId25"/>
    <p:sldId id="267" r:id="rId26"/>
    <p:sldId id="282" r:id="rId27"/>
    <p:sldId id="288" r:id="rId28"/>
    <p:sldId id="318" r:id="rId29"/>
  </p:sldIdLst>
  <p:sldSz cx="12192000" cy="6858000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맑은 고딕" panose="020B0503020000020004" pitchFamily="50" charset="-127"/>
      <p:regular r:id="rId34"/>
      <p:bold r:id="rId35"/>
    </p:embeddedFont>
    <p:embeddedFont>
      <p:font typeface="나눔스퀘어 네오 Bold" panose="00000800000000000000" pitchFamily="2" charset="-127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525"/>
    <a:srgbClr val="505050"/>
    <a:srgbClr val="EBF1F9"/>
    <a:srgbClr val="E5E6E8"/>
    <a:srgbClr val="B28659"/>
    <a:srgbClr val="E5D8C9"/>
    <a:srgbClr val="FDC467"/>
    <a:srgbClr val="05264E"/>
    <a:srgbClr val="3F668F"/>
    <a:srgbClr val="4A7EC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0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29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10B6B7-9287-7501-CDA6-8356E75D1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1D7789-CFE6-22C9-EB44-6E3D7665C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BCA949-B4EE-25C2-426F-595ACA294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007A88-52D3-3EFF-6853-3025E40E3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66BC29-0782-692B-304F-89DC72FBA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68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51A7B-D5FE-E441-1503-91AF076D6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000A57-4BB1-90D7-9A6F-399D5430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3EAFB6-44BA-E6B2-C394-EB915A57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94A2A9-EF85-F2CE-0E94-15AC95BC5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D47C0A-61DE-4EB3-4C1C-FDA46671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43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154BB-20A3-CAF0-686B-B87A74325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FB4176-3627-D703-6C6F-BF6938C7F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68E5FC-7C90-5052-94EC-78ABBF812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C6064-42CE-B7E9-D268-47E8C8E8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5A491B-103B-2BEB-4AFA-C1149FE14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382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1A283-EE82-2C1A-3DA4-5131DF8D8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9504A-82A1-8D8D-DB0C-A3F6CE009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C1AA47-FE1A-F9B3-105E-E3DE94411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2B48DB-2625-D595-9982-4E277A909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60D0E9-6408-E72F-5A9E-02D559090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63F2CC-AC0B-8AD8-60B2-0C974AAA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799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639A44-D23A-E98F-5492-82E39FEA5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ED3B6F-DAB5-38C5-EAB5-332D1F797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D0471C-09F6-6FBC-00AE-7D7683D53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BC3F245-0C6E-5337-99FE-2DB8E13CA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6413AE-1364-179C-0373-36D252B327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704AEA-C494-2E03-3B01-73CE7B7FA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56CD5B-6725-83FA-35FC-6319E870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B4BA56-7D94-13F6-4971-F4E916F8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625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6BDB7-52D3-4377-FC5B-806634CA3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58B586-6E44-28D3-3558-CEB38859F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A1FB35-9E80-F6A9-5490-14E8FAF50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A01088-6933-5538-11A5-6BB49279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162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CB62EF-0AD7-B44F-3952-279BE7A9EAE0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CDCF90F-B5DB-F5D8-C34B-7ADF03BB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532198-7F79-2181-708B-60F49CF0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37BC27-D98D-F3D8-A991-F365CD5A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6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CB62EF-0AD7-B44F-3952-279BE7A9EAE0}"/>
              </a:ext>
            </a:extLst>
          </p:cNvPr>
          <p:cNvSpPr txBox="1"/>
          <p:nvPr userDrawn="1"/>
        </p:nvSpPr>
        <p:spPr>
          <a:xfrm>
            <a:off x="9987228" y="6602223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CDCF90F-B5DB-F5D8-C34B-7ADF03BB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532198-7F79-2181-708B-60F49CF07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37BC27-D98D-F3D8-A991-F365CD5A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853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8C51DE-5A41-F314-C453-F725B45A9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DD596-2CCB-3461-E3EE-D89B9E917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9492C6-90F1-1929-CD62-B6132DDA3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041367-1003-D118-3265-9249393B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068455-54A1-1FAB-47F3-AEEB17574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2310E8-74A8-D020-ECCC-362B0743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206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9D579-00AE-5EB2-F99B-B5118D1A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55C236-4919-F27E-161B-2618B810E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50B109-2960-D7CB-5E6F-57AECDDDF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1F961B-86A3-5132-CCE4-45ED29E16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1260B2-A146-9DBC-FB7C-6F60E73F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64D54C-F997-D8B8-74D2-AB628B04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16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8DFA3-D2CC-FBAB-2AE8-7A314CADF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D4F396-6EAC-6880-AA87-59D44962F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D042A8-CF81-6626-654A-EE5786EAC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3A36F7-0E5B-DBD2-EF15-F210CCA6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FC8737-238B-D8A9-1420-12802A9D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200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684FF23-7ABB-49BB-D119-51FE28A2EB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BDEF98-4A52-6662-C087-4190721C5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659EE8-A640-0457-20DC-92E4B93F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7CD8D-5FF8-45F7-B5D9-86A8A4C3B6A4}" type="datetimeFigureOut">
              <a:rPr lang="ko-KR" altLang="en-US" smtClean="0"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C4BB77-F193-DE60-5953-7CA99061C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CD83F9-8415-B2E6-F442-879A4C9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48F5D-FBBE-4D9E-A56E-6F050048C0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287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1D6A35-C29A-91D9-7077-51A94C9D5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898BF4-8F32-286F-7AF2-A0029B68C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2434C5-2B47-D752-A204-67601BFAC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8697CD8D-5FF8-45F7-B5D9-86A8A4C3B6A4}" type="datetimeFigureOut">
              <a:rPr lang="ko-KR" altLang="en-US" smtClean="0"/>
              <a:pPr/>
              <a:t>2026-04-29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722951-7931-3231-4230-D2618278F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4E29E1-F9E7-D4A1-6075-B039DA756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fld id="{D1848F5D-FBBE-4D9E-A56E-6F050048C06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68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나눔스퀘어 네오 Bold" panose="00000800000000000000" pitchFamily="2" charset="-127"/>
          <a:ea typeface="나눔스퀘어 네오 Bold" panose="000008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나눔스퀘어 네오 Bold" panose="00000800000000000000" pitchFamily="2" charset="-127"/>
          <a:ea typeface="나눔스퀘어 네오 Bold" panose="000008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 네오 Bold" panose="00000800000000000000" pitchFamily="2" charset="-127"/>
          <a:ea typeface="나눔스퀘어 네오 Bold" panose="000008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나눔스퀘어 네오 Bold" panose="00000800000000000000" pitchFamily="2" charset="-127"/>
          <a:ea typeface="나눔스퀘어 네오 Bold" panose="000008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네오 Bold" panose="00000800000000000000" pitchFamily="2" charset="-127"/>
          <a:ea typeface="나눔스퀘어 네오 Bold" panose="000008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스퀘어 네오 Bold" panose="00000800000000000000" pitchFamily="2" charset="-127"/>
          <a:ea typeface="나눔스퀘어 네오 Bold" panose="000008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9.png"/><Relationship Id="rId4" Type="http://schemas.openxmlformats.org/officeDocument/2006/relationships/image" Target="../media/image16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7.png"/><Relationship Id="rId7" Type="http://schemas.openxmlformats.org/officeDocument/2006/relationships/image" Target="../media/image4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일렉트릭 블루, 스크린샷, 마조렐 블루, 사각형이(가) 표시된 사진&#10;&#10;자동 생성된 설명">
            <a:extLst>
              <a:ext uri="{FF2B5EF4-FFF2-40B4-BE49-F238E27FC236}">
                <a16:creationId xmlns:a16="http://schemas.microsoft.com/office/drawing/2014/main" id="{7BE6E4B8-7A1C-0C8B-910B-3ADD70DA3EF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AA2631-352C-65FE-0219-3B4174D002DE}"/>
              </a:ext>
            </a:extLst>
          </p:cNvPr>
          <p:cNvSpPr txBox="1"/>
          <p:nvPr/>
        </p:nvSpPr>
        <p:spPr>
          <a:xfrm>
            <a:off x="2123919" y="2407505"/>
            <a:ext cx="796404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6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Ancient Bug</a:t>
            </a:r>
            <a:endParaRPr lang="ko-KR" altLang="en-US" sz="96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ED3EC3-3C78-52B6-A885-B7CACDBE48C7}"/>
              </a:ext>
            </a:extLst>
          </p:cNvPr>
          <p:cNvSpPr txBox="1"/>
          <p:nvPr/>
        </p:nvSpPr>
        <p:spPr>
          <a:xfrm>
            <a:off x="4858643" y="3977165"/>
            <a:ext cx="2494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2D </a:t>
            </a:r>
            <a:r>
              <a:rPr lang="ko-KR" altLang="en-US" sz="2800" dirty="0" err="1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로그라이크</a:t>
            </a:r>
            <a:endParaRPr lang="ko-KR" altLang="en-US" sz="28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D2C56-A996-079F-DC07-1D70670DCFA5}"/>
              </a:ext>
            </a:extLst>
          </p:cNvPr>
          <p:cNvSpPr txBox="1"/>
          <p:nvPr/>
        </p:nvSpPr>
        <p:spPr>
          <a:xfrm>
            <a:off x="10736027" y="6024300"/>
            <a:ext cx="1135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20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2026.04.30</a:t>
            </a:r>
            <a:br>
              <a:rPr lang="en-US" altLang="ko-KR" sz="120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sz="1200" dirty="0" err="1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배창현</a:t>
            </a:r>
            <a:endParaRPr lang="ko-KR" altLang="en-US" sz="12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3018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71AA12-4A59-69A5-18CE-87400C331F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B32DFB3D-2C22-3864-2968-E8AE5BCF6C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4E4D47-AAAF-072C-E82F-CE35D166C37E}"/>
              </a:ext>
            </a:extLst>
          </p:cNvPr>
          <p:cNvSpPr txBox="1"/>
          <p:nvPr/>
        </p:nvSpPr>
        <p:spPr>
          <a:xfrm>
            <a:off x="3187190" y="2105561"/>
            <a:ext cx="5817619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6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Intro.</a:t>
            </a:r>
            <a:endParaRPr lang="ko-KR" altLang="en-US" sz="166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9641705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6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케치, 그림, 예술, 라인 아트이(가) 표시된 사진&#10;&#10;자동 생성된 설명">
            <a:extLst>
              <a:ext uri="{FF2B5EF4-FFF2-40B4-BE49-F238E27FC236}">
                <a16:creationId xmlns:a16="http://schemas.microsoft.com/office/drawing/2014/main" id="{D60D8803-7C76-E396-7485-7D6EB0E8D32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9D2B11-1A0A-71AC-476F-0FE7FAC4C718}"/>
              </a:ext>
            </a:extLst>
          </p:cNvPr>
          <p:cNvCxnSpPr/>
          <p:nvPr/>
        </p:nvCxnSpPr>
        <p:spPr>
          <a:xfrm>
            <a:off x="568712" y="390293"/>
            <a:ext cx="663497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E95F627-55D1-E011-B02F-83023BB3539B}"/>
              </a:ext>
            </a:extLst>
          </p:cNvPr>
          <p:cNvSpPr txBox="1"/>
          <p:nvPr/>
        </p:nvSpPr>
        <p:spPr>
          <a:xfrm>
            <a:off x="568712" y="613318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-15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목차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048B0A-3890-ED38-C9F4-F6EF9B447F3D}"/>
              </a:ext>
            </a:extLst>
          </p:cNvPr>
          <p:cNvSpPr txBox="1"/>
          <p:nvPr/>
        </p:nvSpPr>
        <p:spPr>
          <a:xfrm>
            <a:off x="1323278" y="674875"/>
            <a:ext cx="16578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pc="-15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table of contents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F543F-9FD1-1267-8C8C-BDBA915270E5}"/>
              </a:ext>
            </a:extLst>
          </p:cNvPr>
          <p:cNvSpPr txBox="1"/>
          <p:nvPr/>
        </p:nvSpPr>
        <p:spPr>
          <a:xfrm>
            <a:off x="1405053" y="1851102"/>
            <a:ext cx="3129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endParaRPr lang="ko-KR" altLang="en-US" sz="2400" b="1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3FF2D-9766-BDB2-C8F6-75A8D7FDBCAA}"/>
              </a:ext>
            </a:extLst>
          </p:cNvPr>
          <p:cNvSpPr txBox="1"/>
          <p:nvPr/>
        </p:nvSpPr>
        <p:spPr>
          <a:xfrm>
            <a:off x="2740333" y="1897268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기획 의도</a:t>
            </a:r>
            <a:endParaRPr lang="ko-KR" altLang="en-US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43283-2121-4A86-1A61-65FB81456B97}"/>
              </a:ext>
            </a:extLst>
          </p:cNvPr>
          <p:cNvSpPr txBox="1"/>
          <p:nvPr/>
        </p:nvSpPr>
        <p:spPr>
          <a:xfrm>
            <a:off x="1405053" y="2986293"/>
            <a:ext cx="37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2400" b="1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B0A293-337D-3A25-5995-1EEFDE05CBA6}"/>
              </a:ext>
            </a:extLst>
          </p:cNvPr>
          <p:cNvSpPr txBox="1"/>
          <p:nvPr/>
        </p:nvSpPr>
        <p:spPr>
          <a:xfrm>
            <a:off x="2740333" y="3032459"/>
            <a:ext cx="213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게임 내용 및 주요 기술</a:t>
            </a:r>
            <a:endParaRPr lang="ko-KR" altLang="en-US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FCD578-DE6D-7383-325C-08BF2EC0BF2B}"/>
              </a:ext>
            </a:extLst>
          </p:cNvPr>
          <p:cNvSpPr txBox="1"/>
          <p:nvPr/>
        </p:nvSpPr>
        <p:spPr>
          <a:xfrm>
            <a:off x="1405053" y="4121484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</a:t>
            </a:r>
            <a:endParaRPr lang="ko-KR" altLang="en-US" sz="2400" b="1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D1E673-907A-A2DE-A558-ED65B0F00F35}"/>
              </a:ext>
            </a:extLst>
          </p:cNvPr>
          <p:cNvSpPr txBox="1"/>
          <p:nvPr/>
        </p:nvSpPr>
        <p:spPr>
          <a:xfrm>
            <a:off x="2740333" y="4167650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게임 시연</a:t>
            </a:r>
            <a:endParaRPr lang="ko-KR" altLang="en-US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18E74-CD70-3687-6618-24F77FD9A450}"/>
              </a:ext>
            </a:extLst>
          </p:cNvPr>
          <p:cNvSpPr txBox="1"/>
          <p:nvPr/>
        </p:nvSpPr>
        <p:spPr>
          <a:xfrm>
            <a:off x="1405053" y="5256675"/>
            <a:ext cx="385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4</a:t>
            </a:r>
            <a:endParaRPr lang="ko-KR" altLang="en-US" sz="2400" b="1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9EF877-55E1-193D-A558-E0C805A954CE}"/>
              </a:ext>
            </a:extLst>
          </p:cNvPr>
          <p:cNvSpPr txBox="1"/>
          <p:nvPr/>
        </p:nvSpPr>
        <p:spPr>
          <a:xfrm>
            <a:off x="2740333" y="5302841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평가 및 질의응답</a:t>
            </a:r>
            <a:endParaRPr lang="ko-KR" altLang="en-US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1214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마조렐 블루, 일렉트릭 블루, 코발트 블루이(가) 표시된 사진&#10;&#10;자동 생성된 설명">
            <a:extLst>
              <a:ext uri="{FF2B5EF4-FFF2-40B4-BE49-F238E27FC236}">
                <a16:creationId xmlns:a16="http://schemas.microsoft.com/office/drawing/2014/main" id="{7ADFA4BD-E57A-2B06-8A5F-55D8B28235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B9F250-F66D-AB0D-E27D-6338806D5D2B}"/>
              </a:ext>
            </a:extLst>
          </p:cNvPr>
          <p:cNvSpPr txBox="1"/>
          <p:nvPr/>
        </p:nvSpPr>
        <p:spPr>
          <a:xfrm>
            <a:off x="5618946" y="1098393"/>
            <a:ext cx="954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1</a:t>
            </a:r>
            <a:endParaRPr lang="ko-KR" altLang="en-US" sz="2400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8F1AF2-BD8F-FF7A-350F-9429F4EB3DCC}"/>
              </a:ext>
            </a:extLst>
          </p:cNvPr>
          <p:cNvSpPr txBox="1"/>
          <p:nvPr/>
        </p:nvSpPr>
        <p:spPr>
          <a:xfrm>
            <a:off x="4809432" y="1655953"/>
            <a:ext cx="25731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기획 의도</a:t>
            </a:r>
            <a:endParaRPr lang="ko-KR" altLang="en-US" sz="48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334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B0B0D2A-2772-ABB8-6732-1A58C7B460B7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054E7-8651-B52F-0B12-C64EA7A65B60}"/>
              </a:ext>
            </a:extLst>
          </p:cNvPr>
          <p:cNvSpPr txBox="1"/>
          <p:nvPr/>
        </p:nvSpPr>
        <p:spPr>
          <a:xfrm>
            <a:off x="696577" y="482342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1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EC20A-3B6F-FB63-1AE5-5BC996B8446E}"/>
              </a:ext>
            </a:extLst>
          </p:cNvPr>
          <p:cNvSpPr txBox="1"/>
          <p:nvPr/>
        </p:nvSpPr>
        <p:spPr>
          <a:xfrm>
            <a:off x="1763806" y="436175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기획 의도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BC62D4-4D52-D6E8-596B-C2BC260A4880}"/>
              </a:ext>
            </a:extLst>
          </p:cNvPr>
          <p:cNvSpPr/>
          <p:nvPr/>
        </p:nvSpPr>
        <p:spPr>
          <a:xfrm>
            <a:off x="557560" y="1972527"/>
            <a:ext cx="3493756" cy="27006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C9F01A-EE3B-2440-0E36-9F19FC41046B}"/>
              </a:ext>
            </a:extLst>
          </p:cNvPr>
          <p:cNvSpPr/>
          <p:nvPr/>
        </p:nvSpPr>
        <p:spPr>
          <a:xfrm>
            <a:off x="4336112" y="1972527"/>
            <a:ext cx="3493756" cy="27006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8B0F4B3-E34A-200E-618F-95B07640DA81}"/>
              </a:ext>
            </a:extLst>
          </p:cNvPr>
          <p:cNvSpPr/>
          <p:nvPr/>
        </p:nvSpPr>
        <p:spPr>
          <a:xfrm>
            <a:off x="8114663" y="1972527"/>
            <a:ext cx="3493756" cy="27006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2259D3-116E-09D9-AA5F-59E0ACDC8BB9}"/>
              </a:ext>
            </a:extLst>
          </p:cNvPr>
          <p:cNvSpPr txBox="1"/>
          <p:nvPr/>
        </p:nvSpPr>
        <p:spPr>
          <a:xfrm>
            <a:off x="1157332" y="5428860"/>
            <a:ext cx="2294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-15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Skul</a:t>
            </a:r>
            <a:r>
              <a:rPr lang="en-US" altLang="ko-KR" spc="-15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The Hero Slayer</a:t>
            </a:r>
            <a:endParaRPr lang="ko-KR" altLang="en-US" b="1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D0EF58-13A2-8AA0-CDC0-CBD3C68DE042}"/>
              </a:ext>
            </a:extLst>
          </p:cNvPr>
          <p:cNvSpPr txBox="1"/>
          <p:nvPr/>
        </p:nvSpPr>
        <p:spPr>
          <a:xfrm>
            <a:off x="4807644" y="5428860"/>
            <a:ext cx="2550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-15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BlazBlue</a:t>
            </a:r>
            <a:r>
              <a:rPr lang="en-US" altLang="ko-KR" spc="-15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Entropy Effect</a:t>
            </a:r>
            <a:endParaRPr lang="ko-KR" altLang="en-US" b="1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99490A-2DBA-FA09-631E-5A73866F39D4}"/>
              </a:ext>
            </a:extLst>
          </p:cNvPr>
          <p:cNvSpPr txBox="1"/>
          <p:nvPr/>
        </p:nvSpPr>
        <p:spPr>
          <a:xfrm>
            <a:off x="9049188" y="5428860"/>
            <a:ext cx="162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Dead Cells</a:t>
            </a:r>
            <a:endParaRPr lang="ko-KR" altLang="en-US" b="1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6610048-58CE-70E8-AD2C-E037614A447A}"/>
              </a:ext>
            </a:extLst>
          </p:cNvPr>
          <p:cNvCxnSpPr>
            <a:cxnSpLocks/>
          </p:cNvCxnSpPr>
          <p:nvPr/>
        </p:nvCxnSpPr>
        <p:spPr>
          <a:xfrm>
            <a:off x="1391368" y="5213445"/>
            <a:ext cx="182614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0EEE02AA-C3A8-AAF5-6A08-9B1C64CD17B2}"/>
              </a:ext>
            </a:extLst>
          </p:cNvPr>
          <p:cNvCxnSpPr>
            <a:cxnSpLocks/>
          </p:cNvCxnSpPr>
          <p:nvPr/>
        </p:nvCxnSpPr>
        <p:spPr>
          <a:xfrm>
            <a:off x="5169920" y="5213445"/>
            <a:ext cx="182614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3652614-E065-8E96-7CCB-3FAE91F70A7B}"/>
              </a:ext>
            </a:extLst>
          </p:cNvPr>
          <p:cNvCxnSpPr>
            <a:cxnSpLocks/>
          </p:cNvCxnSpPr>
          <p:nvPr/>
        </p:nvCxnSpPr>
        <p:spPr>
          <a:xfrm>
            <a:off x="8948471" y="5213445"/>
            <a:ext cx="182614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Skul: The Hero Slayer 상품을 Steam에서 구매하고 50% 절약하세요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60" y="1972527"/>
            <a:ext cx="3493756" cy="2700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lazblue Entropy Effect X for Nintendo Switch - Nintendo Official Site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336109" y="1989603"/>
            <a:ext cx="3493757" cy="2683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ead Cells | Video Game Culture Specialists | Gaming Collectibles &amp; Gifts –  PixelCrib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659" y="1972527"/>
            <a:ext cx="3493760" cy="2700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직사각형 6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6045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96578" y="482342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개발 컨셉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3325D4C-BF69-4035-9EEE-59D4729F3114}"/>
              </a:ext>
            </a:extLst>
          </p:cNvPr>
          <p:cNvGrpSpPr/>
          <p:nvPr/>
        </p:nvGrpSpPr>
        <p:grpSpPr>
          <a:xfrm>
            <a:off x="1163052" y="2274848"/>
            <a:ext cx="9881937" cy="2899318"/>
            <a:chOff x="1163052" y="2308302"/>
            <a:chExt cx="9881937" cy="289931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0A5307A-7061-2C99-EFD9-9DB49BFE7DF7}"/>
                </a:ext>
              </a:extLst>
            </p:cNvPr>
            <p:cNvSpPr txBox="1"/>
            <p:nvPr/>
          </p:nvSpPr>
          <p:spPr>
            <a:xfrm>
              <a:off x="4085677" y="2921168"/>
              <a:ext cx="4020652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6000" b="1" spc="-150" dirty="0" smtClean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느림의 미학</a:t>
              </a:r>
              <a:endParaRPr lang="ko-KR" altLang="en-US" sz="6000" b="1" spc="-15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FDD119E-B44E-299A-74AF-55970C1B59DE}"/>
                </a:ext>
              </a:extLst>
            </p:cNvPr>
            <p:cNvSpPr txBox="1"/>
            <p:nvPr/>
          </p:nvSpPr>
          <p:spPr>
            <a:xfrm>
              <a:off x="4226740" y="4096357"/>
              <a:ext cx="37385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pc="-150" dirty="0" err="1" smtClean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스피디한</a:t>
              </a:r>
              <a:r>
                <a:rPr lang="ko-KR" altLang="en-US" spc="-150" dirty="0" smtClean="0"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 장르에서 속도감의 제약을 주자</a:t>
              </a:r>
              <a:endParaRPr lang="ko-KR" altLang="en-US" spc="-15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4" name="양쪽 대괄호 3">
              <a:extLst>
                <a:ext uri="{FF2B5EF4-FFF2-40B4-BE49-F238E27FC236}">
                  <a16:creationId xmlns:a16="http://schemas.microsoft.com/office/drawing/2014/main" id="{ACC0AEC0-C850-010C-7B50-C9CD911F7C5D}"/>
                </a:ext>
              </a:extLst>
            </p:cNvPr>
            <p:cNvSpPr/>
            <p:nvPr/>
          </p:nvSpPr>
          <p:spPr>
            <a:xfrm>
              <a:off x="1163052" y="2308302"/>
              <a:ext cx="9881937" cy="2899318"/>
            </a:xfrm>
            <a:prstGeom prst="bracketPair">
              <a:avLst>
                <a:gd name="adj" fmla="val 12564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pc="-15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877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폰트, 그래픽, 포스터이(가) 표시된 사진&#10;&#10;자동 생성된 설명">
            <a:extLst>
              <a:ext uri="{FF2B5EF4-FFF2-40B4-BE49-F238E27FC236}">
                <a16:creationId xmlns:a16="http://schemas.microsoft.com/office/drawing/2014/main" id="{1F30EFCE-6676-5936-2E15-75F7EBAB78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D661985-C354-FEF0-4511-F51619C20E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227B1E0-A31D-D9E3-7FF6-A1FCBAAF597D}"/>
              </a:ext>
            </a:extLst>
          </p:cNvPr>
          <p:cNvGrpSpPr/>
          <p:nvPr/>
        </p:nvGrpSpPr>
        <p:grpSpPr>
          <a:xfrm>
            <a:off x="3201622" y="4510666"/>
            <a:ext cx="5788764" cy="1388557"/>
            <a:chOff x="3201622" y="1098393"/>
            <a:chExt cx="5788764" cy="138855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F03CB4-ED7C-9AAA-FC89-594C06D0F323}"/>
                </a:ext>
              </a:extLst>
            </p:cNvPr>
            <p:cNvSpPr txBox="1"/>
            <p:nvPr/>
          </p:nvSpPr>
          <p:spPr>
            <a:xfrm>
              <a:off x="5587687" y="1098393"/>
              <a:ext cx="10166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spc="-150" dirty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Part 2</a:t>
              </a:r>
              <a:endParaRPr lang="ko-KR" altLang="en-US" sz="2400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C6D611-0D22-015E-0AD1-E2398FD98E6E}"/>
                </a:ext>
              </a:extLst>
            </p:cNvPr>
            <p:cNvSpPr txBox="1"/>
            <p:nvPr/>
          </p:nvSpPr>
          <p:spPr>
            <a:xfrm>
              <a:off x="3201622" y="1655953"/>
              <a:ext cx="578876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4800" b="1" spc="-150" dirty="0" smtClean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게임 내용 및 주요 기술</a:t>
              </a:r>
              <a:endParaRPr lang="ko-KR" altLang="en-US" sz="48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4308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8142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899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Lobby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F23B-8E3E-1216-964D-38BEDE05EDC7}"/>
              </a:ext>
            </a:extLst>
          </p:cNvPr>
          <p:cNvSpPr txBox="1"/>
          <p:nvPr/>
        </p:nvSpPr>
        <p:spPr>
          <a:xfrm>
            <a:off x="1805556" y="1560499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Larva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825" y="1002178"/>
            <a:ext cx="9702755" cy="528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94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8142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867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Game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F23B-8E3E-1216-964D-38BEDE05EDC7}"/>
              </a:ext>
            </a:extLst>
          </p:cNvPr>
          <p:cNvSpPr txBox="1"/>
          <p:nvPr/>
        </p:nvSpPr>
        <p:spPr>
          <a:xfrm>
            <a:off x="1805556" y="1560499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Larva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825" y="1002179"/>
            <a:ext cx="9702755" cy="528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110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8142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780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Shop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F23B-8E3E-1216-964D-38BEDE05EDC7}"/>
              </a:ext>
            </a:extLst>
          </p:cNvPr>
          <p:cNvSpPr txBox="1"/>
          <p:nvPr/>
        </p:nvSpPr>
        <p:spPr>
          <a:xfrm>
            <a:off x="1805556" y="1560499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Larva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825" y="1019255"/>
            <a:ext cx="9702755" cy="527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08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8142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19255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Pause &amp; Option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F23B-8E3E-1216-964D-38BEDE05EDC7}"/>
              </a:ext>
            </a:extLst>
          </p:cNvPr>
          <p:cNvSpPr txBox="1"/>
          <p:nvPr/>
        </p:nvSpPr>
        <p:spPr>
          <a:xfrm>
            <a:off x="1805556" y="1560499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Larva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83" y="1036331"/>
            <a:ext cx="5769632" cy="525422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969" y="1053407"/>
            <a:ext cx="4382112" cy="523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67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8142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893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Player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092DD3-CEA3-683E-2F88-4246A38EB62B}"/>
              </a:ext>
            </a:extLst>
          </p:cNvPr>
          <p:cNvSpPr/>
          <p:nvPr/>
        </p:nvSpPr>
        <p:spPr>
          <a:xfrm>
            <a:off x="1097466" y="1438506"/>
            <a:ext cx="2158690" cy="6133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D6B55F-F10A-6949-2DCB-45A3C1DC4CA3}"/>
              </a:ext>
            </a:extLst>
          </p:cNvPr>
          <p:cNvSpPr/>
          <p:nvPr/>
        </p:nvSpPr>
        <p:spPr>
          <a:xfrm>
            <a:off x="1097466" y="2051823"/>
            <a:ext cx="2158690" cy="1455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F23B-8E3E-1216-964D-38BEDE05EDC7}"/>
              </a:ext>
            </a:extLst>
          </p:cNvPr>
          <p:cNvSpPr txBox="1"/>
          <p:nvPr/>
        </p:nvSpPr>
        <p:spPr>
          <a:xfrm>
            <a:off x="1747047" y="1560499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Attack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D89B8E-F007-9556-CFCF-3A6607989C71}"/>
              </a:ext>
            </a:extLst>
          </p:cNvPr>
          <p:cNvSpPr/>
          <p:nvPr/>
        </p:nvSpPr>
        <p:spPr>
          <a:xfrm>
            <a:off x="3721471" y="1438506"/>
            <a:ext cx="2158690" cy="6133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B42DBF-CA6A-24EE-7B0E-68B0965CA34B}"/>
              </a:ext>
            </a:extLst>
          </p:cNvPr>
          <p:cNvSpPr/>
          <p:nvPr/>
        </p:nvSpPr>
        <p:spPr>
          <a:xfrm>
            <a:off x="3721471" y="2051823"/>
            <a:ext cx="2158690" cy="1455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01D0FF-C5CA-B28F-5D53-6AA5ECD2FFFC}"/>
              </a:ext>
            </a:extLst>
          </p:cNvPr>
          <p:cNvSpPr txBox="1"/>
          <p:nvPr/>
        </p:nvSpPr>
        <p:spPr>
          <a:xfrm>
            <a:off x="4080109" y="1560499"/>
            <a:ext cx="1441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Jump Attack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1C1A49-6E48-72B0-B4B1-36901B05AF23}"/>
              </a:ext>
            </a:extLst>
          </p:cNvPr>
          <p:cNvSpPr/>
          <p:nvPr/>
        </p:nvSpPr>
        <p:spPr>
          <a:xfrm>
            <a:off x="6345476" y="1438506"/>
            <a:ext cx="2158690" cy="6133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B75548A-C4F6-5486-BED9-D08CD32D4B83}"/>
              </a:ext>
            </a:extLst>
          </p:cNvPr>
          <p:cNvSpPr/>
          <p:nvPr/>
        </p:nvSpPr>
        <p:spPr>
          <a:xfrm>
            <a:off x="6345476" y="2051823"/>
            <a:ext cx="2158690" cy="1455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F8817E-764D-D64E-DB84-5110D50311F6}"/>
              </a:ext>
            </a:extLst>
          </p:cNvPr>
          <p:cNvSpPr txBox="1"/>
          <p:nvPr/>
        </p:nvSpPr>
        <p:spPr>
          <a:xfrm>
            <a:off x="6831556" y="1560499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Up Attack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B5DB076-0DB1-E81D-654E-C3ECB7D1D1B1}"/>
              </a:ext>
            </a:extLst>
          </p:cNvPr>
          <p:cNvSpPr/>
          <p:nvPr/>
        </p:nvSpPr>
        <p:spPr>
          <a:xfrm>
            <a:off x="8969481" y="1438506"/>
            <a:ext cx="2158690" cy="160956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7418DD5-2CF8-1286-2490-0D0812337266}"/>
              </a:ext>
            </a:extLst>
          </p:cNvPr>
          <p:cNvSpPr/>
          <p:nvPr/>
        </p:nvSpPr>
        <p:spPr>
          <a:xfrm>
            <a:off x="8969481" y="2051823"/>
            <a:ext cx="2158690" cy="38190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3CC64B-FC25-EFC8-09C1-8F014436FC1F}"/>
              </a:ext>
            </a:extLst>
          </p:cNvPr>
          <p:cNvSpPr txBox="1"/>
          <p:nvPr/>
        </p:nvSpPr>
        <p:spPr>
          <a:xfrm>
            <a:off x="9765740" y="1560499"/>
            <a:ext cx="566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Skill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DDA110-2F43-083C-7FF9-1A2D91526F6D}"/>
              </a:ext>
            </a:extLst>
          </p:cNvPr>
          <p:cNvSpPr/>
          <p:nvPr/>
        </p:nvSpPr>
        <p:spPr>
          <a:xfrm>
            <a:off x="1142377" y="3827428"/>
            <a:ext cx="2158690" cy="6133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C139A7B-23F9-346A-37E5-E3E06529DB36}"/>
              </a:ext>
            </a:extLst>
          </p:cNvPr>
          <p:cNvSpPr/>
          <p:nvPr/>
        </p:nvSpPr>
        <p:spPr>
          <a:xfrm>
            <a:off x="1142377" y="4440745"/>
            <a:ext cx="2158690" cy="1455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A58199-B194-0C82-009B-E15885443922}"/>
              </a:ext>
            </a:extLst>
          </p:cNvPr>
          <p:cNvSpPr txBox="1"/>
          <p:nvPr/>
        </p:nvSpPr>
        <p:spPr>
          <a:xfrm>
            <a:off x="1866497" y="3949421"/>
            <a:ext cx="710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Dash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F744383-2FC6-3AB3-9F08-F413F1CC802D}"/>
              </a:ext>
            </a:extLst>
          </p:cNvPr>
          <p:cNvSpPr/>
          <p:nvPr/>
        </p:nvSpPr>
        <p:spPr>
          <a:xfrm>
            <a:off x="3766382" y="3827428"/>
            <a:ext cx="2158690" cy="6133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44FF61C-BDD6-0B0D-1F8E-65DFF847108B}"/>
              </a:ext>
            </a:extLst>
          </p:cNvPr>
          <p:cNvSpPr/>
          <p:nvPr/>
        </p:nvSpPr>
        <p:spPr>
          <a:xfrm>
            <a:off x="3766382" y="4440745"/>
            <a:ext cx="2158690" cy="1455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20CCBF-2764-E0F5-2BA1-D9CDF27F7CE8}"/>
              </a:ext>
            </a:extLst>
          </p:cNvPr>
          <p:cNvSpPr txBox="1"/>
          <p:nvPr/>
        </p:nvSpPr>
        <p:spPr>
          <a:xfrm>
            <a:off x="4500123" y="394942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Glide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A48F6F-330E-327F-93FD-FB19B7219E01}"/>
              </a:ext>
            </a:extLst>
          </p:cNvPr>
          <p:cNvSpPr txBox="1"/>
          <p:nvPr/>
        </p:nvSpPr>
        <p:spPr>
          <a:xfrm>
            <a:off x="7020731" y="3949421"/>
            <a:ext cx="8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TITLE3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341" y="2028197"/>
            <a:ext cx="2156815" cy="151788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471" y="2028196"/>
            <a:ext cx="2158690" cy="151788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476" y="2028196"/>
            <a:ext cx="2158690" cy="151788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481" y="2045089"/>
            <a:ext cx="2158690" cy="3836732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377" y="4440745"/>
            <a:ext cx="2158690" cy="145523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6382" y="4440745"/>
            <a:ext cx="2158690" cy="145523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466" y="2028275"/>
            <a:ext cx="2158690" cy="151781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66381" y="2031913"/>
            <a:ext cx="2113779" cy="147514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5474" y="2046965"/>
            <a:ext cx="2158691" cy="149912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9478" y="2036373"/>
            <a:ext cx="2158693" cy="3859606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2377" y="4416126"/>
            <a:ext cx="2113779" cy="1454758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66379" y="4411126"/>
            <a:ext cx="2158693" cy="1459758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5543" y="4425412"/>
            <a:ext cx="2158689" cy="1445471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D81C1A49-6E48-72B0-B4B1-36901B05AF23}"/>
              </a:ext>
            </a:extLst>
          </p:cNvPr>
          <p:cNvSpPr/>
          <p:nvPr/>
        </p:nvSpPr>
        <p:spPr>
          <a:xfrm>
            <a:off x="6335543" y="3829116"/>
            <a:ext cx="2158690" cy="6133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F8817E-764D-D64E-DB84-5110D50311F6}"/>
              </a:ext>
            </a:extLst>
          </p:cNvPr>
          <p:cNvSpPr txBox="1"/>
          <p:nvPr/>
        </p:nvSpPr>
        <p:spPr>
          <a:xfrm>
            <a:off x="7178291" y="3951109"/>
            <a:ext cx="473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Hit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075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8142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976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Enemy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092DD3-CEA3-683E-2F88-4246A38EB62B}"/>
              </a:ext>
            </a:extLst>
          </p:cNvPr>
          <p:cNvSpPr/>
          <p:nvPr/>
        </p:nvSpPr>
        <p:spPr>
          <a:xfrm>
            <a:off x="1097466" y="1438506"/>
            <a:ext cx="2158690" cy="6133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ED6B55F-F10A-6949-2DCB-45A3C1DC4CA3}"/>
              </a:ext>
            </a:extLst>
          </p:cNvPr>
          <p:cNvSpPr/>
          <p:nvPr/>
        </p:nvSpPr>
        <p:spPr>
          <a:xfrm>
            <a:off x="1097466" y="2051823"/>
            <a:ext cx="2158690" cy="1455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F23B-8E3E-1216-964D-38BEDE05EDC7}"/>
              </a:ext>
            </a:extLst>
          </p:cNvPr>
          <p:cNvSpPr txBox="1"/>
          <p:nvPr/>
        </p:nvSpPr>
        <p:spPr>
          <a:xfrm>
            <a:off x="1805556" y="1560499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Larva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D89B8E-F007-9556-CFCF-3A6607989C71}"/>
              </a:ext>
            </a:extLst>
          </p:cNvPr>
          <p:cNvSpPr/>
          <p:nvPr/>
        </p:nvSpPr>
        <p:spPr>
          <a:xfrm>
            <a:off x="3721471" y="1438506"/>
            <a:ext cx="2158690" cy="6133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B42DBF-CA6A-24EE-7B0E-68B0965CA34B}"/>
              </a:ext>
            </a:extLst>
          </p:cNvPr>
          <p:cNvSpPr/>
          <p:nvPr/>
        </p:nvSpPr>
        <p:spPr>
          <a:xfrm>
            <a:off x="3721471" y="2051823"/>
            <a:ext cx="2158690" cy="1455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01D0FF-C5CA-B28F-5D53-6AA5ECD2FFFC}"/>
              </a:ext>
            </a:extLst>
          </p:cNvPr>
          <p:cNvSpPr txBox="1"/>
          <p:nvPr/>
        </p:nvSpPr>
        <p:spPr>
          <a:xfrm>
            <a:off x="4116976" y="1560499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Aphid Moth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1C1A49-6E48-72B0-B4B1-36901B05AF23}"/>
              </a:ext>
            </a:extLst>
          </p:cNvPr>
          <p:cNvSpPr/>
          <p:nvPr/>
        </p:nvSpPr>
        <p:spPr>
          <a:xfrm>
            <a:off x="6345476" y="1438506"/>
            <a:ext cx="2158690" cy="6133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B75548A-C4F6-5486-BED9-D08CD32D4B83}"/>
              </a:ext>
            </a:extLst>
          </p:cNvPr>
          <p:cNvSpPr/>
          <p:nvPr/>
        </p:nvSpPr>
        <p:spPr>
          <a:xfrm>
            <a:off x="6345476" y="2051823"/>
            <a:ext cx="2158690" cy="1455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F8817E-764D-D64E-DB84-5110D50311F6}"/>
              </a:ext>
            </a:extLst>
          </p:cNvPr>
          <p:cNvSpPr txBox="1"/>
          <p:nvPr/>
        </p:nvSpPr>
        <p:spPr>
          <a:xfrm>
            <a:off x="6773043" y="1560499"/>
            <a:ext cx="1303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Moth Rider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B5DB076-0DB1-E81D-654E-C3ECB7D1D1B1}"/>
              </a:ext>
            </a:extLst>
          </p:cNvPr>
          <p:cNvSpPr/>
          <p:nvPr/>
        </p:nvSpPr>
        <p:spPr>
          <a:xfrm>
            <a:off x="8969481" y="1438506"/>
            <a:ext cx="2158690" cy="6133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7418DD5-2CF8-1286-2490-0D0812337266}"/>
              </a:ext>
            </a:extLst>
          </p:cNvPr>
          <p:cNvSpPr/>
          <p:nvPr/>
        </p:nvSpPr>
        <p:spPr>
          <a:xfrm>
            <a:off x="8969481" y="2051823"/>
            <a:ext cx="2158690" cy="1455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3CC64B-FC25-EFC8-09C1-8F014436FC1F}"/>
              </a:ext>
            </a:extLst>
          </p:cNvPr>
          <p:cNvSpPr txBox="1"/>
          <p:nvPr/>
        </p:nvSpPr>
        <p:spPr>
          <a:xfrm>
            <a:off x="9385025" y="1560499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Blue Beetle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DDA110-2F43-083C-7FF9-1A2D91526F6D}"/>
              </a:ext>
            </a:extLst>
          </p:cNvPr>
          <p:cNvSpPr/>
          <p:nvPr/>
        </p:nvSpPr>
        <p:spPr>
          <a:xfrm>
            <a:off x="1142377" y="3827428"/>
            <a:ext cx="2158690" cy="6133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C139A7B-23F9-346A-37E5-E3E06529DB36}"/>
              </a:ext>
            </a:extLst>
          </p:cNvPr>
          <p:cNvSpPr/>
          <p:nvPr/>
        </p:nvSpPr>
        <p:spPr>
          <a:xfrm>
            <a:off x="1142377" y="4440745"/>
            <a:ext cx="2158690" cy="1455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A58199-B194-0C82-009B-E15885443922}"/>
              </a:ext>
            </a:extLst>
          </p:cNvPr>
          <p:cNvSpPr txBox="1"/>
          <p:nvPr/>
        </p:nvSpPr>
        <p:spPr>
          <a:xfrm>
            <a:off x="1472961" y="3949421"/>
            <a:ext cx="1497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Green Beetle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F744383-2FC6-3AB3-9F08-F413F1CC802D}"/>
              </a:ext>
            </a:extLst>
          </p:cNvPr>
          <p:cNvSpPr/>
          <p:nvPr/>
        </p:nvSpPr>
        <p:spPr>
          <a:xfrm>
            <a:off x="3766382" y="3827428"/>
            <a:ext cx="2158690" cy="61331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44FF61C-BDD6-0B0D-1F8E-65DFF847108B}"/>
              </a:ext>
            </a:extLst>
          </p:cNvPr>
          <p:cNvSpPr/>
          <p:nvPr/>
        </p:nvSpPr>
        <p:spPr>
          <a:xfrm>
            <a:off x="3766382" y="4440745"/>
            <a:ext cx="2158690" cy="14552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20CCBF-2764-E0F5-2BA1-D9CDF27F7CE8}"/>
              </a:ext>
            </a:extLst>
          </p:cNvPr>
          <p:cNvSpPr txBox="1"/>
          <p:nvPr/>
        </p:nvSpPr>
        <p:spPr>
          <a:xfrm>
            <a:off x="4086547" y="3949421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Aphid Lancer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A48F6F-330E-327F-93FD-FB19B7219E01}"/>
              </a:ext>
            </a:extLst>
          </p:cNvPr>
          <p:cNvSpPr txBox="1"/>
          <p:nvPr/>
        </p:nvSpPr>
        <p:spPr>
          <a:xfrm>
            <a:off x="7020731" y="3949421"/>
            <a:ext cx="89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TITLE3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341" y="2028197"/>
            <a:ext cx="2156815" cy="151788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471" y="2028196"/>
            <a:ext cx="2158690" cy="151788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476" y="2028196"/>
            <a:ext cx="2158690" cy="151788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9481" y="2045089"/>
            <a:ext cx="2158690" cy="146196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2377" y="4440745"/>
            <a:ext cx="2158690" cy="145523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6382" y="4440745"/>
            <a:ext cx="2158690" cy="1455234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0210" y="3827428"/>
            <a:ext cx="2162175" cy="860686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476" y="4993085"/>
            <a:ext cx="2146909" cy="902894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9481" y="4113640"/>
            <a:ext cx="2158690" cy="1447800"/>
          </a:xfrm>
          <a:prstGeom prst="rect">
            <a:avLst/>
          </a:prstGeom>
        </p:spPr>
      </p:pic>
      <p:sp>
        <p:nvSpPr>
          <p:cNvPr id="49" name="직사각형 48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006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8142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Trap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D092DD3-CEA3-683E-2F88-4246A38EB62B}"/>
              </a:ext>
            </a:extLst>
          </p:cNvPr>
          <p:cNvSpPr/>
          <p:nvPr/>
        </p:nvSpPr>
        <p:spPr>
          <a:xfrm>
            <a:off x="678142" y="1458793"/>
            <a:ext cx="3142952" cy="14669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F23B-8E3E-1216-964D-38BEDE05EDC7}"/>
              </a:ext>
            </a:extLst>
          </p:cNvPr>
          <p:cNvSpPr txBox="1"/>
          <p:nvPr/>
        </p:nvSpPr>
        <p:spPr>
          <a:xfrm>
            <a:off x="988483" y="1566982"/>
            <a:ext cx="243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Tentacle Flower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AD89B8E-F007-9556-CFCF-3A6607989C71}"/>
              </a:ext>
            </a:extLst>
          </p:cNvPr>
          <p:cNvSpPr/>
          <p:nvPr/>
        </p:nvSpPr>
        <p:spPr>
          <a:xfrm>
            <a:off x="4536652" y="1458793"/>
            <a:ext cx="3142952" cy="14669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01D0FF-C5CA-B28F-5D53-6AA5ECD2FFFC}"/>
              </a:ext>
            </a:extLst>
          </p:cNvPr>
          <p:cNvSpPr txBox="1"/>
          <p:nvPr/>
        </p:nvSpPr>
        <p:spPr>
          <a:xfrm>
            <a:off x="5112485" y="1566982"/>
            <a:ext cx="1991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Turret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1C1A49-6E48-72B0-B4B1-36901B05AF23}"/>
              </a:ext>
            </a:extLst>
          </p:cNvPr>
          <p:cNvSpPr/>
          <p:nvPr/>
        </p:nvSpPr>
        <p:spPr>
          <a:xfrm>
            <a:off x="8395160" y="1458793"/>
            <a:ext cx="3142952" cy="14669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F8817E-764D-D64E-DB84-5110D50311F6}"/>
              </a:ext>
            </a:extLst>
          </p:cNvPr>
          <p:cNvSpPr txBox="1"/>
          <p:nvPr/>
        </p:nvSpPr>
        <p:spPr>
          <a:xfrm>
            <a:off x="9017671" y="1568972"/>
            <a:ext cx="189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Spike</a:t>
            </a:r>
            <a:endParaRPr lang="ko-KR" altLang="en-US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17" y="2048484"/>
            <a:ext cx="3140221" cy="363056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651" y="2048483"/>
            <a:ext cx="3142951" cy="363056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159" y="2048483"/>
            <a:ext cx="3142951" cy="363056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29" y="2046493"/>
            <a:ext cx="3133909" cy="363255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5156" y="2046493"/>
            <a:ext cx="3142953" cy="363255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5790" y="2044503"/>
            <a:ext cx="3143812" cy="3634541"/>
          </a:xfrm>
          <a:prstGeom prst="rect">
            <a:avLst/>
          </a:prstGeom>
        </p:spPr>
      </p:pic>
      <p:sp>
        <p:nvSpPr>
          <p:cNvPr id="36" name="직사각형 35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741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타원 9">
            <a:extLst>
              <a:ext uri="{FF2B5EF4-FFF2-40B4-BE49-F238E27FC236}">
                <a16:creationId xmlns:a16="http://schemas.microsoft.com/office/drawing/2014/main" id="{32B41F2C-87AC-555F-E313-48DBF3147C7E}"/>
              </a:ext>
            </a:extLst>
          </p:cNvPr>
          <p:cNvSpPr/>
          <p:nvPr/>
        </p:nvSpPr>
        <p:spPr>
          <a:xfrm>
            <a:off x="669073" y="2023946"/>
            <a:ext cx="3122341" cy="3122341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4023A66-950D-D505-C8BF-4AB85D0D296E}"/>
              </a:ext>
            </a:extLst>
          </p:cNvPr>
          <p:cNvSpPr/>
          <p:nvPr/>
        </p:nvSpPr>
        <p:spPr>
          <a:xfrm>
            <a:off x="8400579" y="2023944"/>
            <a:ext cx="3122341" cy="3122341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63A7B9D-6F25-70B8-C6A4-52D4582EF6BF}"/>
              </a:ext>
            </a:extLst>
          </p:cNvPr>
          <p:cNvSpPr/>
          <p:nvPr/>
        </p:nvSpPr>
        <p:spPr>
          <a:xfrm>
            <a:off x="4534825" y="2023945"/>
            <a:ext cx="3122341" cy="3122341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9A861F-9ED4-75FD-36D7-BE677B4B3203}"/>
              </a:ext>
            </a:extLst>
          </p:cNvPr>
          <p:cNvSpPr txBox="1"/>
          <p:nvPr/>
        </p:nvSpPr>
        <p:spPr>
          <a:xfrm>
            <a:off x="3879686" y="240141"/>
            <a:ext cx="443262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8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{             }</a:t>
            </a:r>
            <a:endParaRPr lang="ko-KR" altLang="en-US" sz="88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594A7C-193D-D97A-A32A-7BDB652DECD4}"/>
              </a:ext>
            </a:extLst>
          </p:cNvPr>
          <p:cNvSpPr txBox="1"/>
          <p:nvPr/>
        </p:nvSpPr>
        <p:spPr>
          <a:xfrm>
            <a:off x="1671081" y="696005"/>
            <a:ext cx="8849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Boss</a:t>
            </a:r>
            <a:endParaRPr lang="ko-KR" altLang="en-US" sz="36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3DAFFA-372D-FC0C-B733-3A22378C9453}"/>
              </a:ext>
            </a:extLst>
          </p:cNvPr>
          <p:cNvSpPr txBox="1"/>
          <p:nvPr/>
        </p:nvSpPr>
        <p:spPr>
          <a:xfrm flipH="1">
            <a:off x="1377731" y="5574495"/>
            <a:ext cx="1705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Spike Beetle</a:t>
            </a:r>
            <a:endParaRPr lang="ko-KR" altLang="en-US" sz="1600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CE1CE5-0358-271F-A72A-9C12482B227E}"/>
              </a:ext>
            </a:extLst>
          </p:cNvPr>
          <p:cNvSpPr txBox="1"/>
          <p:nvPr/>
        </p:nvSpPr>
        <p:spPr>
          <a:xfrm flipH="1">
            <a:off x="5243485" y="5574495"/>
            <a:ext cx="1705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Gorgon</a:t>
            </a:r>
            <a:endParaRPr lang="ko-KR" altLang="en-US" sz="1600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BE28BE-6B32-C776-F962-3F99EAE2AD47}"/>
              </a:ext>
            </a:extLst>
          </p:cNvPr>
          <p:cNvSpPr txBox="1"/>
          <p:nvPr/>
        </p:nvSpPr>
        <p:spPr>
          <a:xfrm flipH="1">
            <a:off x="9109239" y="5574495"/>
            <a:ext cx="1705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spc="-150" dirty="0" err="1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Hexer</a:t>
            </a:r>
            <a:endParaRPr lang="ko-KR" altLang="en-US" sz="1600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118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8142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444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Spike </a:t>
            </a:r>
            <a:r>
              <a:rPr lang="en-US" altLang="ko-KR" sz="2000" b="1" spc="-1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Bettle</a:t>
            </a:r>
            <a:r>
              <a:rPr lang="en-US" altLang="ko-KR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Pattern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F195D95-CD10-CF80-17D2-37DF13ABB06A}"/>
              </a:ext>
            </a:extLst>
          </p:cNvPr>
          <p:cNvSpPr/>
          <p:nvPr/>
        </p:nvSpPr>
        <p:spPr>
          <a:xfrm>
            <a:off x="887402" y="1422400"/>
            <a:ext cx="2994024" cy="4699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3084D5-B0A7-ACF1-550B-58ACE04F6BBF}"/>
              </a:ext>
            </a:extLst>
          </p:cNvPr>
          <p:cNvSpPr/>
          <p:nvPr/>
        </p:nvSpPr>
        <p:spPr>
          <a:xfrm>
            <a:off x="4585023" y="1422400"/>
            <a:ext cx="2994024" cy="4699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DE813D-BC34-3C3A-B49C-8C124D563A7B}"/>
              </a:ext>
            </a:extLst>
          </p:cNvPr>
          <p:cNvSpPr/>
          <p:nvPr/>
        </p:nvSpPr>
        <p:spPr>
          <a:xfrm>
            <a:off x="8282644" y="1422400"/>
            <a:ext cx="2994024" cy="4699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3D67BF0-69D3-C7C4-BE94-96A10FB43F88}"/>
              </a:ext>
            </a:extLst>
          </p:cNvPr>
          <p:cNvSpPr/>
          <p:nvPr/>
        </p:nvSpPr>
        <p:spPr>
          <a:xfrm>
            <a:off x="1142067" y="1651000"/>
            <a:ext cx="2514600" cy="3556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4F5FB4-BEF3-2063-7809-D2248E8D9ECD}"/>
              </a:ext>
            </a:extLst>
          </p:cNvPr>
          <p:cNvSpPr/>
          <p:nvPr/>
        </p:nvSpPr>
        <p:spPr>
          <a:xfrm>
            <a:off x="4837767" y="1651000"/>
            <a:ext cx="2514600" cy="3556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CD2B58-0EE9-E72D-039F-357656D7240E}"/>
              </a:ext>
            </a:extLst>
          </p:cNvPr>
          <p:cNvSpPr/>
          <p:nvPr/>
        </p:nvSpPr>
        <p:spPr>
          <a:xfrm>
            <a:off x="8533467" y="1651000"/>
            <a:ext cx="2514600" cy="3556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66F4A9-13C1-A142-7434-D80DC46335D1}"/>
              </a:ext>
            </a:extLst>
          </p:cNvPr>
          <p:cNvSpPr txBox="1"/>
          <p:nvPr/>
        </p:nvSpPr>
        <p:spPr>
          <a:xfrm>
            <a:off x="2103452" y="5422900"/>
            <a:ext cx="5918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Roll</a:t>
            </a:r>
            <a:endParaRPr lang="ko-KR" altLang="en-US" sz="20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D1F191-778E-F7BA-4677-A64B33112D22}"/>
              </a:ext>
            </a:extLst>
          </p:cNvPr>
          <p:cNvSpPr txBox="1"/>
          <p:nvPr/>
        </p:nvSpPr>
        <p:spPr>
          <a:xfrm>
            <a:off x="5758864" y="5422900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Roar</a:t>
            </a:r>
            <a:endParaRPr lang="ko-KR" altLang="en-US" sz="20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A05A1A-1984-03B8-E4DC-B3A578AEDD19}"/>
              </a:ext>
            </a:extLst>
          </p:cNvPr>
          <p:cNvSpPr txBox="1"/>
          <p:nvPr/>
        </p:nvSpPr>
        <p:spPr>
          <a:xfrm>
            <a:off x="9433509" y="5422900"/>
            <a:ext cx="8162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Spike</a:t>
            </a:r>
            <a:endParaRPr lang="ko-KR" altLang="en-US" sz="20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067" y="1651000"/>
            <a:ext cx="2514600" cy="3556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468" y="1651000"/>
            <a:ext cx="2514600" cy="35560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766" y="1651000"/>
            <a:ext cx="2514601" cy="3556000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844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8142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1938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Gorgon Pattern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F195D95-CD10-CF80-17D2-37DF13ABB06A}"/>
              </a:ext>
            </a:extLst>
          </p:cNvPr>
          <p:cNvSpPr/>
          <p:nvPr/>
        </p:nvSpPr>
        <p:spPr>
          <a:xfrm>
            <a:off x="887402" y="1422400"/>
            <a:ext cx="2994024" cy="4699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3084D5-B0A7-ACF1-550B-58ACE04F6BBF}"/>
              </a:ext>
            </a:extLst>
          </p:cNvPr>
          <p:cNvSpPr/>
          <p:nvPr/>
        </p:nvSpPr>
        <p:spPr>
          <a:xfrm>
            <a:off x="4585023" y="1422400"/>
            <a:ext cx="2994024" cy="4699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DE813D-BC34-3C3A-B49C-8C124D563A7B}"/>
              </a:ext>
            </a:extLst>
          </p:cNvPr>
          <p:cNvSpPr/>
          <p:nvPr/>
        </p:nvSpPr>
        <p:spPr>
          <a:xfrm>
            <a:off x="8282644" y="1422400"/>
            <a:ext cx="2994024" cy="4699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3D67BF0-69D3-C7C4-BE94-96A10FB43F88}"/>
              </a:ext>
            </a:extLst>
          </p:cNvPr>
          <p:cNvSpPr/>
          <p:nvPr/>
        </p:nvSpPr>
        <p:spPr>
          <a:xfrm>
            <a:off x="1142067" y="1651000"/>
            <a:ext cx="2514600" cy="3556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4F5FB4-BEF3-2063-7809-D2248E8D9ECD}"/>
              </a:ext>
            </a:extLst>
          </p:cNvPr>
          <p:cNvSpPr/>
          <p:nvPr/>
        </p:nvSpPr>
        <p:spPr>
          <a:xfrm>
            <a:off x="4837767" y="1651000"/>
            <a:ext cx="2514600" cy="3556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CD2B58-0EE9-E72D-039F-357656D7240E}"/>
              </a:ext>
            </a:extLst>
          </p:cNvPr>
          <p:cNvSpPr/>
          <p:nvPr/>
        </p:nvSpPr>
        <p:spPr>
          <a:xfrm>
            <a:off x="8533467" y="1651000"/>
            <a:ext cx="2514600" cy="3556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66F4A9-13C1-A142-7434-D80DC46335D1}"/>
              </a:ext>
            </a:extLst>
          </p:cNvPr>
          <p:cNvSpPr txBox="1"/>
          <p:nvPr/>
        </p:nvSpPr>
        <p:spPr>
          <a:xfrm>
            <a:off x="1933534" y="5422900"/>
            <a:ext cx="931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Screw</a:t>
            </a:r>
            <a:endParaRPr lang="ko-KR" altLang="en-US" sz="20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D1F191-778E-F7BA-4677-A64B33112D22}"/>
              </a:ext>
            </a:extLst>
          </p:cNvPr>
          <p:cNvSpPr txBox="1"/>
          <p:nvPr/>
        </p:nvSpPr>
        <p:spPr>
          <a:xfrm>
            <a:off x="5732414" y="5422900"/>
            <a:ext cx="7761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Dash</a:t>
            </a:r>
            <a:endParaRPr lang="ko-KR" altLang="en-US" sz="20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A05A1A-1984-03B8-E4DC-B3A578AEDD19}"/>
              </a:ext>
            </a:extLst>
          </p:cNvPr>
          <p:cNvSpPr txBox="1"/>
          <p:nvPr/>
        </p:nvSpPr>
        <p:spPr>
          <a:xfrm>
            <a:off x="9167413" y="5422900"/>
            <a:ext cx="1348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Tail Swing</a:t>
            </a:r>
            <a:endParaRPr lang="ko-KR" altLang="en-US" sz="20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067" y="1651000"/>
            <a:ext cx="2514600" cy="3556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468" y="1651000"/>
            <a:ext cx="2514600" cy="35560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766" y="1651000"/>
            <a:ext cx="2514601" cy="35560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765" y="1651000"/>
            <a:ext cx="2514602" cy="35560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7756" y="1651000"/>
            <a:ext cx="2500311" cy="35560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065" y="1685925"/>
            <a:ext cx="2514601" cy="3521075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199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8142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1771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Hexer</a:t>
            </a:r>
            <a:r>
              <a:rPr lang="en-US" altLang="ko-KR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Pattern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F195D95-CD10-CF80-17D2-37DF13ABB06A}"/>
              </a:ext>
            </a:extLst>
          </p:cNvPr>
          <p:cNvSpPr/>
          <p:nvPr/>
        </p:nvSpPr>
        <p:spPr>
          <a:xfrm>
            <a:off x="887402" y="1422400"/>
            <a:ext cx="2994024" cy="4699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63084D5-B0A7-ACF1-550B-58ACE04F6BBF}"/>
              </a:ext>
            </a:extLst>
          </p:cNvPr>
          <p:cNvSpPr/>
          <p:nvPr/>
        </p:nvSpPr>
        <p:spPr>
          <a:xfrm>
            <a:off x="4585023" y="1422400"/>
            <a:ext cx="2994024" cy="4699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DE813D-BC34-3C3A-B49C-8C124D563A7B}"/>
              </a:ext>
            </a:extLst>
          </p:cNvPr>
          <p:cNvSpPr/>
          <p:nvPr/>
        </p:nvSpPr>
        <p:spPr>
          <a:xfrm>
            <a:off x="8282644" y="1422400"/>
            <a:ext cx="2994024" cy="46990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3D67BF0-69D3-C7C4-BE94-96A10FB43F88}"/>
              </a:ext>
            </a:extLst>
          </p:cNvPr>
          <p:cNvSpPr/>
          <p:nvPr/>
        </p:nvSpPr>
        <p:spPr>
          <a:xfrm>
            <a:off x="1142067" y="1651000"/>
            <a:ext cx="2514600" cy="3556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64F5FB4-BEF3-2063-7809-D2248E8D9ECD}"/>
              </a:ext>
            </a:extLst>
          </p:cNvPr>
          <p:cNvSpPr/>
          <p:nvPr/>
        </p:nvSpPr>
        <p:spPr>
          <a:xfrm>
            <a:off x="4837767" y="1651000"/>
            <a:ext cx="2514600" cy="3556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0CD2B58-0EE9-E72D-039F-357656D7240E}"/>
              </a:ext>
            </a:extLst>
          </p:cNvPr>
          <p:cNvSpPr/>
          <p:nvPr/>
        </p:nvSpPr>
        <p:spPr>
          <a:xfrm>
            <a:off x="8533467" y="1651000"/>
            <a:ext cx="2514600" cy="3556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66F4A9-13C1-A142-7434-D80DC46335D1}"/>
              </a:ext>
            </a:extLst>
          </p:cNvPr>
          <p:cNvSpPr txBox="1"/>
          <p:nvPr/>
        </p:nvSpPr>
        <p:spPr>
          <a:xfrm>
            <a:off x="1461453" y="5422900"/>
            <a:ext cx="1875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Guided </a:t>
            </a:r>
            <a:r>
              <a:rPr lang="en-US" altLang="ko-KR" sz="2000" spc="-15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FireBall</a:t>
            </a:r>
            <a:endParaRPr lang="ko-KR" altLang="en-US" sz="20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D1F191-778E-F7BA-4677-A64B33112D22}"/>
              </a:ext>
            </a:extLst>
          </p:cNvPr>
          <p:cNvSpPr txBox="1"/>
          <p:nvPr/>
        </p:nvSpPr>
        <p:spPr>
          <a:xfrm>
            <a:off x="5630624" y="5422900"/>
            <a:ext cx="9797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Smash</a:t>
            </a:r>
            <a:endParaRPr lang="ko-KR" altLang="en-US" sz="20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A05A1A-1984-03B8-E4DC-B3A578AEDD19}"/>
              </a:ext>
            </a:extLst>
          </p:cNvPr>
          <p:cNvSpPr txBox="1"/>
          <p:nvPr/>
        </p:nvSpPr>
        <p:spPr>
          <a:xfrm>
            <a:off x="8977458" y="5422900"/>
            <a:ext cx="17283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Upper Smash</a:t>
            </a:r>
            <a:endParaRPr lang="ko-KR" altLang="en-US" sz="20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067" y="1651000"/>
            <a:ext cx="2514600" cy="3556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468" y="1651000"/>
            <a:ext cx="2514600" cy="35560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766" y="1651000"/>
            <a:ext cx="2514601" cy="3556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482" y="1677988"/>
            <a:ext cx="2488185" cy="3529012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767" y="1651001"/>
            <a:ext cx="2514600" cy="35560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3466" y="1677988"/>
            <a:ext cx="2514601" cy="3529012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2066" y="1651000"/>
            <a:ext cx="2514601" cy="3556000"/>
          </a:xfrm>
          <a:prstGeom prst="rect">
            <a:avLst/>
          </a:prstGeom>
        </p:spPr>
      </p:pic>
      <p:sp>
        <p:nvSpPr>
          <p:cNvPr id="21" name="직사각형 20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041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B0B0D2A-2772-ABB8-6732-1A58C7B460B7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6054E7-8651-B52F-0B12-C64EA7A65B60}"/>
              </a:ext>
            </a:extLst>
          </p:cNvPr>
          <p:cNvSpPr txBox="1"/>
          <p:nvPr/>
        </p:nvSpPr>
        <p:spPr>
          <a:xfrm>
            <a:off x="678142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EC20A-3B6F-FB63-1AE5-5BC996B8446E}"/>
              </a:ext>
            </a:extLst>
          </p:cNvPr>
          <p:cNvSpPr txBox="1"/>
          <p:nvPr/>
        </p:nvSpPr>
        <p:spPr>
          <a:xfrm>
            <a:off x="1763806" y="436175"/>
            <a:ext cx="712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FSM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C6ABF0B-AC69-3E66-448F-82AD6DED630D}"/>
              </a:ext>
            </a:extLst>
          </p:cNvPr>
          <p:cNvSpPr/>
          <p:nvPr/>
        </p:nvSpPr>
        <p:spPr>
          <a:xfrm>
            <a:off x="4118661" y="1397746"/>
            <a:ext cx="4064606" cy="406460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78CF86F-16EA-FD20-AD76-77D05FC56528}"/>
              </a:ext>
            </a:extLst>
          </p:cNvPr>
          <p:cNvSpPr/>
          <p:nvPr/>
        </p:nvSpPr>
        <p:spPr>
          <a:xfrm>
            <a:off x="10217582" y="2800774"/>
            <a:ext cx="1245708" cy="124570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DD9A3E2-D138-F906-DF7B-CE12C8F57A31}"/>
              </a:ext>
            </a:extLst>
          </p:cNvPr>
          <p:cNvSpPr/>
          <p:nvPr/>
        </p:nvSpPr>
        <p:spPr>
          <a:xfrm>
            <a:off x="759239" y="2927910"/>
            <a:ext cx="1245708" cy="124570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6D2AADA-914B-7F2B-7E1E-D0AB656B2DD1}"/>
              </a:ext>
            </a:extLst>
          </p:cNvPr>
          <p:cNvSpPr/>
          <p:nvPr/>
        </p:nvSpPr>
        <p:spPr>
          <a:xfrm>
            <a:off x="5520083" y="1384904"/>
            <a:ext cx="1245708" cy="124570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9D20646-3DC0-F734-B566-1A35D7BB2B9E}"/>
              </a:ext>
            </a:extLst>
          </p:cNvPr>
          <p:cNvSpPr/>
          <p:nvPr/>
        </p:nvSpPr>
        <p:spPr>
          <a:xfrm>
            <a:off x="5520083" y="2800774"/>
            <a:ext cx="1245708" cy="124570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21A467C-C1B0-C275-496E-AF0E6E19BF73}"/>
              </a:ext>
            </a:extLst>
          </p:cNvPr>
          <p:cNvSpPr/>
          <p:nvPr/>
        </p:nvSpPr>
        <p:spPr>
          <a:xfrm>
            <a:off x="5520083" y="4216645"/>
            <a:ext cx="1245708" cy="124570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DC0ED6-4035-24B2-B9E0-2BC8E42C3B30}"/>
              </a:ext>
            </a:extLst>
          </p:cNvPr>
          <p:cNvSpPr txBox="1"/>
          <p:nvPr/>
        </p:nvSpPr>
        <p:spPr>
          <a:xfrm flipH="1">
            <a:off x="537707" y="4216645"/>
            <a:ext cx="1688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실시간 플레이어 거리 계산</a:t>
            </a:r>
            <a:endParaRPr lang="ko-KR" altLang="en-US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C4C6A8-51EF-C531-3199-1DB2BBC54289}"/>
              </a:ext>
            </a:extLst>
          </p:cNvPr>
          <p:cNvSpPr txBox="1"/>
          <p:nvPr/>
        </p:nvSpPr>
        <p:spPr>
          <a:xfrm flipH="1">
            <a:off x="2697203" y="4406390"/>
            <a:ext cx="1860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상태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잠</a:t>
            </a:r>
            <a:r>
              <a:rPr lang="ko-KR" altLang="en-US" sz="140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</a:t>
            </a:r>
            <a:endParaRPr lang="ko-KR" altLang="en-US" sz="1400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5B0545-E358-3074-6A4E-7344F29B8C96}"/>
              </a:ext>
            </a:extLst>
          </p:cNvPr>
          <p:cNvSpPr txBox="1"/>
          <p:nvPr/>
        </p:nvSpPr>
        <p:spPr>
          <a:xfrm flipH="1">
            <a:off x="10004077" y="4115338"/>
            <a:ext cx="168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복귀</a:t>
            </a:r>
            <a:endParaRPr lang="ko-KR" altLang="en-US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2E5808-F107-34C7-445C-6CC9683283F1}"/>
              </a:ext>
            </a:extLst>
          </p:cNvPr>
          <p:cNvSpPr txBox="1"/>
          <p:nvPr/>
        </p:nvSpPr>
        <p:spPr>
          <a:xfrm flipH="1">
            <a:off x="10004077" y="3238962"/>
            <a:ext cx="1688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spc="-150" dirty="0" err="1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ThinkRoutine</a:t>
            </a:r>
            <a:endParaRPr lang="ko-KR" altLang="en-US" sz="1600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6D3938-0CA3-408C-E47D-477EF1E427AA}"/>
              </a:ext>
            </a:extLst>
          </p:cNvPr>
          <p:cNvSpPr txBox="1"/>
          <p:nvPr/>
        </p:nvSpPr>
        <p:spPr>
          <a:xfrm flipH="1">
            <a:off x="545734" y="3372844"/>
            <a:ext cx="1688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spc="-150" dirty="0" err="1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ThinkRoutine</a:t>
            </a:r>
            <a:endParaRPr lang="ko-KR" altLang="en-US" sz="1600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02D721-F953-488E-AF0A-CD0D911417E9}"/>
              </a:ext>
            </a:extLst>
          </p:cNvPr>
          <p:cNvSpPr txBox="1"/>
          <p:nvPr/>
        </p:nvSpPr>
        <p:spPr>
          <a:xfrm flipH="1">
            <a:off x="5306578" y="1829225"/>
            <a:ext cx="168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Roll</a:t>
            </a:r>
            <a:endParaRPr lang="ko-KR" altLang="en-US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38334E-9618-0A55-303F-BC714A39B87E}"/>
              </a:ext>
            </a:extLst>
          </p:cNvPr>
          <p:cNvSpPr txBox="1"/>
          <p:nvPr/>
        </p:nvSpPr>
        <p:spPr>
          <a:xfrm flipH="1">
            <a:off x="5306578" y="3251842"/>
            <a:ext cx="168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Spike</a:t>
            </a:r>
            <a:endParaRPr lang="ko-KR" altLang="en-US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AB0F01-8761-2A98-D4B3-6136C14A3111}"/>
              </a:ext>
            </a:extLst>
          </p:cNvPr>
          <p:cNvSpPr txBox="1"/>
          <p:nvPr/>
        </p:nvSpPr>
        <p:spPr>
          <a:xfrm flipH="1">
            <a:off x="5298551" y="4678368"/>
            <a:ext cx="168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Roar</a:t>
            </a:r>
            <a:endParaRPr lang="ko-KR" altLang="en-US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C4C6A8-51EF-C531-3199-1DB2BBC54289}"/>
              </a:ext>
            </a:extLst>
          </p:cNvPr>
          <p:cNvSpPr txBox="1"/>
          <p:nvPr/>
        </p:nvSpPr>
        <p:spPr>
          <a:xfrm flipH="1">
            <a:off x="5167187" y="897137"/>
            <a:ext cx="1967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AttackRoutine</a:t>
            </a:r>
            <a:endParaRPr lang="ko-KR" altLang="en-US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4C6ABF0B-AC69-3E66-448F-82AD6DED630D}"/>
              </a:ext>
            </a:extLst>
          </p:cNvPr>
          <p:cNvSpPr/>
          <p:nvPr/>
        </p:nvSpPr>
        <p:spPr>
          <a:xfrm>
            <a:off x="2892808" y="2769871"/>
            <a:ext cx="1595536" cy="159553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C4C6A8-51EF-C531-3199-1DB2BBC54289}"/>
              </a:ext>
            </a:extLst>
          </p:cNvPr>
          <p:cNvSpPr txBox="1"/>
          <p:nvPr/>
        </p:nvSpPr>
        <p:spPr>
          <a:xfrm flipH="1">
            <a:off x="2695464" y="3367488"/>
            <a:ext cx="1860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ChangeState</a:t>
            </a:r>
            <a:r>
              <a:rPr lang="en-US" altLang="ko-KR" sz="140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/>
            </a:r>
            <a:br>
              <a:rPr lang="en-US" altLang="ko-KR" sz="140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40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(Attack)</a:t>
            </a:r>
            <a:endParaRPr lang="ko-KR" altLang="en-US" sz="1400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C6ABF0B-AC69-3E66-448F-82AD6DED630D}"/>
              </a:ext>
            </a:extLst>
          </p:cNvPr>
          <p:cNvSpPr/>
          <p:nvPr/>
        </p:nvSpPr>
        <p:spPr>
          <a:xfrm>
            <a:off x="7808698" y="2638739"/>
            <a:ext cx="1595536" cy="159553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C4C6A8-51EF-C531-3199-1DB2BBC54289}"/>
              </a:ext>
            </a:extLst>
          </p:cNvPr>
          <p:cNvSpPr txBox="1"/>
          <p:nvPr/>
        </p:nvSpPr>
        <p:spPr>
          <a:xfrm flipH="1">
            <a:off x="7729774" y="3282618"/>
            <a:ext cx="1860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ChangeState</a:t>
            </a:r>
            <a:r>
              <a:rPr lang="en-US" altLang="ko-KR" sz="140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/>
            </a:r>
            <a:br>
              <a:rPr lang="en-US" altLang="ko-KR" sz="140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40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(Idle)</a:t>
            </a:r>
            <a:endParaRPr lang="ko-KR" altLang="en-US" sz="1400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7" name="오른쪽 화살표 46"/>
          <p:cNvSpPr/>
          <p:nvPr/>
        </p:nvSpPr>
        <p:spPr>
          <a:xfrm>
            <a:off x="2079417" y="3351964"/>
            <a:ext cx="772975" cy="39759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8" name="오른쪽 화살표 47"/>
          <p:cNvSpPr/>
          <p:nvPr/>
        </p:nvSpPr>
        <p:spPr>
          <a:xfrm>
            <a:off x="4517549" y="3343321"/>
            <a:ext cx="772975" cy="39759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9" name="오른쪽 화살표 48"/>
          <p:cNvSpPr/>
          <p:nvPr/>
        </p:nvSpPr>
        <p:spPr>
          <a:xfrm>
            <a:off x="7031832" y="3305684"/>
            <a:ext cx="772975" cy="39759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0" name="오른쪽 화살표 49"/>
          <p:cNvSpPr/>
          <p:nvPr/>
        </p:nvSpPr>
        <p:spPr>
          <a:xfrm>
            <a:off x="9417427" y="3248773"/>
            <a:ext cx="772975" cy="39759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C4C6A8-51EF-C531-3199-1DB2BBC54289}"/>
              </a:ext>
            </a:extLst>
          </p:cNvPr>
          <p:cNvSpPr txBox="1"/>
          <p:nvPr/>
        </p:nvSpPr>
        <p:spPr>
          <a:xfrm flipH="1">
            <a:off x="7698514" y="4370081"/>
            <a:ext cx="1860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상태 초기화</a:t>
            </a:r>
            <a:endParaRPr lang="ko-KR" altLang="en-US" sz="1400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D460151-306C-6C52-951F-F62AF52AE571}"/>
              </a:ext>
            </a:extLst>
          </p:cNvPr>
          <p:cNvSpPr/>
          <p:nvPr/>
        </p:nvSpPr>
        <p:spPr>
          <a:xfrm>
            <a:off x="10386710" y="195262"/>
            <a:ext cx="1494979" cy="388355"/>
          </a:xfrm>
          <a:prstGeom prst="rect">
            <a:avLst/>
          </a:prstGeom>
          <a:solidFill>
            <a:srgbClr val="5252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9F6B29-21D4-902E-CB0C-A7B5D13B4B99}"/>
              </a:ext>
            </a:extLst>
          </p:cNvPr>
          <p:cNvSpPr txBox="1"/>
          <p:nvPr/>
        </p:nvSpPr>
        <p:spPr>
          <a:xfrm>
            <a:off x="10386710" y="204773"/>
            <a:ext cx="1494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BossState</a:t>
            </a:r>
            <a:endParaRPr lang="ko-KR" altLang="en-US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E9F6B29-21D4-902E-CB0C-A7B5D13B4B99}"/>
              </a:ext>
            </a:extLst>
          </p:cNvPr>
          <p:cNvSpPr txBox="1"/>
          <p:nvPr/>
        </p:nvSpPr>
        <p:spPr>
          <a:xfrm>
            <a:off x="10386710" y="583617"/>
            <a:ext cx="1494979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Idle,</a:t>
            </a:r>
            <a:br>
              <a:rPr lang="en-US" altLang="ko-KR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Walk,</a:t>
            </a:r>
            <a:br>
              <a:rPr lang="en-US" altLang="ko-KR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Roll,</a:t>
            </a:r>
            <a:br>
              <a:rPr lang="en-US" altLang="ko-KR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Spike,</a:t>
            </a:r>
            <a:br>
              <a:rPr lang="en-US" altLang="ko-KR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Roar,</a:t>
            </a:r>
            <a:br>
              <a:rPr lang="en-US" altLang="ko-KR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Dead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993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8143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3874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pc="-15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Single </a:t>
            </a:r>
            <a:r>
              <a:rPr lang="en-US" altLang="ko-KR" sz="20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Game Scene </a:t>
            </a:r>
            <a:r>
              <a:rPr lang="en-US" altLang="ko-KR" sz="2000" spc="-15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Architecture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7F89866-63E8-B019-ACCA-17A42A4E1DAB}"/>
              </a:ext>
            </a:extLst>
          </p:cNvPr>
          <p:cNvSpPr/>
          <p:nvPr/>
        </p:nvSpPr>
        <p:spPr>
          <a:xfrm>
            <a:off x="571500" y="1349297"/>
            <a:ext cx="2710999" cy="3468031"/>
          </a:xfrm>
          <a:prstGeom prst="roundRect">
            <a:avLst>
              <a:gd name="adj" fmla="val 2777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C9AC572-EEB6-BC24-47AD-47F8A0A5EBDE}"/>
              </a:ext>
            </a:extLst>
          </p:cNvPr>
          <p:cNvSpPr/>
          <p:nvPr/>
        </p:nvSpPr>
        <p:spPr>
          <a:xfrm>
            <a:off x="8909501" y="1349296"/>
            <a:ext cx="2710999" cy="3468031"/>
          </a:xfrm>
          <a:prstGeom prst="roundRect">
            <a:avLst>
              <a:gd name="adj" fmla="val 2777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53BB42A-CA3E-C693-B077-F578583A2A68}"/>
              </a:ext>
            </a:extLst>
          </p:cNvPr>
          <p:cNvSpPr/>
          <p:nvPr/>
        </p:nvSpPr>
        <p:spPr>
          <a:xfrm>
            <a:off x="3768183" y="1349296"/>
            <a:ext cx="4662139" cy="3468031"/>
          </a:xfrm>
          <a:prstGeom prst="roundRect">
            <a:avLst>
              <a:gd name="adj" fmla="val 2777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9ABE4D7-EB7C-C7E7-AD93-8D056229F97F}"/>
              </a:ext>
            </a:extLst>
          </p:cNvPr>
          <p:cNvCxnSpPr>
            <a:cxnSpLocks/>
          </p:cNvCxnSpPr>
          <p:nvPr/>
        </p:nvCxnSpPr>
        <p:spPr>
          <a:xfrm>
            <a:off x="2752055" y="3020123"/>
            <a:ext cx="1452825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2D9F2D-2C9C-60E0-5A8F-C51AFA0CF841}"/>
              </a:ext>
            </a:extLst>
          </p:cNvPr>
          <p:cNvCxnSpPr>
            <a:cxnSpLocks/>
          </p:cNvCxnSpPr>
          <p:nvPr/>
        </p:nvCxnSpPr>
        <p:spPr>
          <a:xfrm>
            <a:off x="8022865" y="3020123"/>
            <a:ext cx="1452825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원통형 13">
            <a:extLst>
              <a:ext uri="{FF2B5EF4-FFF2-40B4-BE49-F238E27FC236}">
                <a16:creationId xmlns:a16="http://schemas.microsoft.com/office/drawing/2014/main" id="{DEB537C2-9DCA-A08B-0435-DFA17255587F}"/>
              </a:ext>
            </a:extLst>
          </p:cNvPr>
          <p:cNvSpPr/>
          <p:nvPr/>
        </p:nvSpPr>
        <p:spPr>
          <a:xfrm>
            <a:off x="5145535" y="2887765"/>
            <a:ext cx="1952653" cy="658721"/>
          </a:xfrm>
          <a:prstGeom prst="can">
            <a:avLst>
              <a:gd name="adj" fmla="val 3465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FA507F-AA1D-1E90-3C26-68EB0AA7F76F}"/>
              </a:ext>
            </a:extLst>
          </p:cNvPr>
          <p:cNvSpPr txBox="1"/>
          <p:nvPr/>
        </p:nvSpPr>
        <p:spPr>
          <a:xfrm>
            <a:off x="5764230" y="3141022"/>
            <a:ext cx="715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Game</a:t>
            </a:r>
            <a:endParaRPr lang="ko-KR" altLang="en-US" sz="1600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17693A-7824-B5F6-5CFE-E38949491698}"/>
              </a:ext>
            </a:extLst>
          </p:cNvPr>
          <p:cNvSpPr txBox="1"/>
          <p:nvPr/>
        </p:nvSpPr>
        <p:spPr>
          <a:xfrm>
            <a:off x="3180794" y="3139331"/>
            <a:ext cx="615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Start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9" name="양쪽 대괄호 18">
            <a:extLst>
              <a:ext uri="{FF2B5EF4-FFF2-40B4-BE49-F238E27FC236}">
                <a16:creationId xmlns:a16="http://schemas.microsoft.com/office/drawing/2014/main" id="{33EFE003-3CD6-25A0-62F3-ED33792B8B35}"/>
              </a:ext>
            </a:extLst>
          </p:cNvPr>
          <p:cNvSpPr/>
          <p:nvPr/>
        </p:nvSpPr>
        <p:spPr>
          <a:xfrm>
            <a:off x="646884" y="5163297"/>
            <a:ext cx="10894628" cy="1125991"/>
          </a:xfrm>
          <a:prstGeom prst="bracketPair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5DD3A0-1C94-F85C-8E24-C82CC02BBF15}"/>
              </a:ext>
            </a:extLst>
          </p:cNvPr>
          <p:cNvSpPr txBox="1"/>
          <p:nvPr/>
        </p:nvSpPr>
        <p:spPr>
          <a:xfrm>
            <a:off x="988483" y="5216298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작동 원리</a:t>
            </a:r>
            <a:endParaRPr lang="ko-KR" altLang="en-US" b="1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6F824C-1BB3-D029-AAC1-C1443CED18DE}"/>
              </a:ext>
            </a:extLst>
          </p:cNvPr>
          <p:cNvSpPr txBox="1"/>
          <p:nvPr/>
        </p:nvSpPr>
        <p:spPr>
          <a:xfrm>
            <a:off x="988483" y="5674115"/>
            <a:ext cx="10215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트리거 발동 </a:t>
            </a:r>
            <a:r>
              <a:rPr lang="en-US" altLang="ko-KR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(Door) -&gt; </a:t>
            </a:r>
            <a:r>
              <a:rPr lang="ko-KR" altLang="en-US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화면 차단</a:t>
            </a:r>
            <a:r>
              <a:rPr lang="en-US" altLang="ko-KR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(Fade Out) -&gt; </a:t>
            </a:r>
            <a:r>
              <a:rPr lang="ko-KR" altLang="en-US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동적 교체 </a:t>
            </a:r>
            <a:r>
              <a:rPr lang="en-US" altLang="ko-KR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-&gt; </a:t>
            </a:r>
            <a:r>
              <a:rPr lang="ko-KR" altLang="en-US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초기화 및 배치 </a:t>
            </a:r>
            <a:r>
              <a:rPr lang="en-US" altLang="ko-KR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-&gt; </a:t>
            </a:r>
            <a:r>
              <a:rPr lang="ko-KR" altLang="en-US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게임 재개</a:t>
            </a:r>
            <a:r>
              <a:rPr lang="en-US" altLang="ko-KR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(Fade In)</a:t>
            </a:r>
            <a:endParaRPr lang="ko-KR" altLang="en-US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AB17E-1F08-F0F6-E42C-0A27048962B4}"/>
              </a:ext>
            </a:extLst>
          </p:cNvPr>
          <p:cNvSpPr txBox="1"/>
          <p:nvPr/>
        </p:nvSpPr>
        <p:spPr>
          <a:xfrm>
            <a:off x="9937061" y="3513194"/>
            <a:ext cx="7360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Lobby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17693A-7824-B5F6-5CFE-E38949491698}"/>
              </a:ext>
            </a:extLst>
          </p:cNvPr>
          <p:cNvSpPr txBox="1"/>
          <p:nvPr/>
        </p:nvSpPr>
        <p:spPr>
          <a:xfrm>
            <a:off x="1529757" y="3513194"/>
            <a:ext cx="7360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Lobby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17693A-7824-B5F6-5CFE-E38949491698}"/>
              </a:ext>
            </a:extLst>
          </p:cNvPr>
          <p:cNvSpPr txBox="1"/>
          <p:nvPr/>
        </p:nvSpPr>
        <p:spPr>
          <a:xfrm>
            <a:off x="8379213" y="3140565"/>
            <a:ext cx="6944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Finish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2052" name="Picture 4" descr="https://miro.medium.com/v2/resize:fit:700/1*KDiVQd1sy_-r-CG40mPkmw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549" y="2232036"/>
            <a:ext cx="262890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https://miro.medium.com/v2/resize:fit:700/1*KDiVQd1sy_-r-CG40mPkmw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0550" y="2234150"/>
            <a:ext cx="262890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https://miro.medium.com/v2/resize:fit:700/1*KDiVQd1sy_-r-CG40mPkmw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508" y="1778324"/>
            <a:ext cx="262890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113" y="3851748"/>
            <a:ext cx="562352" cy="56921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396" y="3851748"/>
            <a:ext cx="562352" cy="569210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679" y="3851748"/>
            <a:ext cx="562352" cy="56921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962" y="3851748"/>
            <a:ext cx="562352" cy="569210"/>
          </a:xfrm>
          <a:prstGeom prst="rect">
            <a:avLst/>
          </a:prstGeom>
        </p:spPr>
      </p:pic>
      <p:cxnSp>
        <p:nvCxnSpPr>
          <p:cNvPr id="7" name="직선 연결선 6"/>
          <p:cNvCxnSpPr>
            <a:stCxn id="3" idx="0"/>
            <a:endCxn id="14" idx="3"/>
          </p:cNvCxnSpPr>
          <p:nvPr/>
        </p:nvCxnSpPr>
        <p:spPr>
          <a:xfrm flipV="1">
            <a:off x="4846289" y="3546486"/>
            <a:ext cx="1275573" cy="305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>
            <a:stCxn id="28" idx="0"/>
            <a:endCxn id="14" idx="3"/>
          </p:cNvCxnSpPr>
          <p:nvPr/>
        </p:nvCxnSpPr>
        <p:spPr>
          <a:xfrm flipV="1">
            <a:off x="5731572" y="3546486"/>
            <a:ext cx="390290" cy="305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>
            <a:stCxn id="30" idx="0"/>
            <a:endCxn id="14" idx="3"/>
          </p:cNvCxnSpPr>
          <p:nvPr/>
        </p:nvCxnSpPr>
        <p:spPr>
          <a:xfrm flipH="1" flipV="1">
            <a:off x="6121862" y="3546486"/>
            <a:ext cx="494993" cy="305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stCxn id="31" idx="0"/>
            <a:endCxn id="14" idx="3"/>
          </p:cNvCxnSpPr>
          <p:nvPr/>
        </p:nvCxnSpPr>
        <p:spPr>
          <a:xfrm flipH="1" flipV="1">
            <a:off x="6121862" y="3546486"/>
            <a:ext cx="1380276" cy="305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B17693A-7824-B5F6-5CFE-E38949491698}"/>
              </a:ext>
            </a:extLst>
          </p:cNvPr>
          <p:cNvSpPr txBox="1"/>
          <p:nvPr/>
        </p:nvSpPr>
        <p:spPr>
          <a:xfrm>
            <a:off x="4498279" y="4449865"/>
            <a:ext cx="6960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Map 1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17693A-7824-B5F6-5CFE-E38949491698}"/>
              </a:ext>
            </a:extLst>
          </p:cNvPr>
          <p:cNvSpPr txBox="1"/>
          <p:nvPr/>
        </p:nvSpPr>
        <p:spPr>
          <a:xfrm>
            <a:off x="5352721" y="4441445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Map 2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17693A-7824-B5F6-5CFE-E38949491698}"/>
              </a:ext>
            </a:extLst>
          </p:cNvPr>
          <p:cNvSpPr txBox="1"/>
          <p:nvPr/>
        </p:nvSpPr>
        <p:spPr>
          <a:xfrm>
            <a:off x="6225598" y="4449865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Map 3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17693A-7824-B5F6-5CFE-E38949491698}"/>
              </a:ext>
            </a:extLst>
          </p:cNvPr>
          <p:cNvSpPr txBox="1"/>
          <p:nvPr/>
        </p:nvSpPr>
        <p:spPr>
          <a:xfrm>
            <a:off x="7129279" y="4441445"/>
            <a:ext cx="7457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Map 4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5445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aphicFrame>
        <p:nvGraphicFramePr>
          <p:cNvPr id="12" name="표 12">
            <a:extLst>
              <a:ext uri="{FF2B5EF4-FFF2-40B4-BE49-F238E27FC236}">
                <a16:creationId xmlns:a16="http://schemas.microsoft.com/office/drawing/2014/main" id="{20A30528-29A4-B053-47E5-4D6753CBB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322473"/>
              </p:ext>
            </p:extLst>
          </p:nvPr>
        </p:nvGraphicFramePr>
        <p:xfrm>
          <a:off x="495300" y="1444495"/>
          <a:ext cx="11057364" cy="4812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7300">
                  <a:extLst>
                    <a:ext uri="{9D8B030D-6E8A-4147-A177-3AD203B41FA5}">
                      <a16:colId xmlns:a16="http://schemas.microsoft.com/office/drawing/2014/main" val="29594014"/>
                    </a:ext>
                  </a:extLst>
                </a:gridCol>
                <a:gridCol w="8530064">
                  <a:extLst>
                    <a:ext uri="{9D8B030D-6E8A-4147-A177-3AD203B41FA5}">
                      <a16:colId xmlns:a16="http://schemas.microsoft.com/office/drawing/2014/main" val="3337239140"/>
                    </a:ext>
                  </a:extLst>
                </a:gridCol>
              </a:tblGrid>
              <a:tr h="77958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pc="-150" dirty="0" smtClean="0">
                          <a:solidFill>
                            <a:schemeClr val="bg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스크립트</a:t>
                      </a:r>
                      <a:endParaRPr lang="ko-KR" altLang="en-US" spc="-150" dirty="0">
                        <a:solidFill>
                          <a:schemeClr val="bg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pc="-150" dirty="0" smtClean="0">
                          <a:solidFill>
                            <a:schemeClr val="bg1"/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기능</a:t>
                      </a:r>
                      <a:endParaRPr lang="ko-KR" altLang="en-US" spc="-150" dirty="0">
                        <a:solidFill>
                          <a:schemeClr val="bg1"/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348184"/>
                  </a:ext>
                </a:extLst>
              </a:tr>
              <a:tr h="7795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pc="-1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Player</a:t>
                      </a:r>
                      <a:endParaRPr lang="ko-KR" altLang="en-US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pc="-1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위치추적 </a:t>
                      </a:r>
                      <a:r>
                        <a:rPr lang="en-US" altLang="ko-KR" spc="-1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:Player</a:t>
                      </a:r>
                      <a:r>
                        <a:rPr lang="ko-KR" altLang="en-US" spc="-1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의 </a:t>
                      </a:r>
                      <a:r>
                        <a:rPr lang="en-US" altLang="ko-KR" spc="-1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transform</a:t>
                      </a:r>
                      <a:r>
                        <a:rPr lang="ko-KR" altLang="en-US" spc="-15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을 참조하여 거리를 계산함</a:t>
                      </a:r>
                      <a:r>
                        <a:rPr lang="en-US" altLang="ko-KR" spc="-1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/>
                      </a:r>
                      <a:br>
                        <a:rPr lang="en-US" altLang="ko-KR" spc="-1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</a:br>
                      <a:r>
                        <a:rPr lang="ko-KR" altLang="en-US" spc="-1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데미지</a:t>
                      </a:r>
                      <a:r>
                        <a:rPr lang="ko-KR" altLang="en-US" spc="-1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처리 </a:t>
                      </a:r>
                      <a:r>
                        <a:rPr lang="en-US" altLang="ko-KR" spc="-1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: </a:t>
                      </a:r>
                      <a:r>
                        <a:rPr lang="en-US" altLang="ko-KR" spc="-1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TakeDamage</a:t>
                      </a:r>
                      <a:r>
                        <a:rPr lang="en-US" altLang="ko-KR" spc="-1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()</a:t>
                      </a:r>
                      <a:r>
                        <a:rPr lang="ko-KR" altLang="en-US" spc="-1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를 호출하여 직접 </a:t>
                      </a:r>
                      <a:r>
                        <a:rPr lang="ko-KR" altLang="en-US" spc="-1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데미지를</a:t>
                      </a:r>
                      <a:r>
                        <a:rPr lang="ko-KR" altLang="en-US" spc="-1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입힘</a:t>
                      </a:r>
                      <a:r>
                        <a:rPr lang="en-US" altLang="ko-KR" spc="-1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/>
                      </a:r>
                      <a:br>
                        <a:rPr lang="en-US" altLang="ko-KR" spc="-1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</a:br>
                      <a:r>
                        <a:rPr lang="ko-KR" altLang="en-US" spc="-1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보상 지급 </a:t>
                      </a:r>
                      <a:r>
                        <a:rPr lang="en-US" altLang="ko-KR" spc="-1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: </a:t>
                      </a:r>
                      <a:r>
                        <a:rPr lang="en-US" altLang="ko-KR" spc="-150" baseline="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AddGold</a:t>
                      </a:r>
                      <a:r>
                        <a:rPr lang="en-US" altLang="ko-KR" spc="-1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(), Heal()</a:t>
                      </a:r>
                      <a:r>
                        <a:rPr lang="ko-KR" altLang="en-US" spc="-150" baseline="0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을 호출하여 기능을 수행</a:t>
                      </a:r>
                      <a:endParaRPr lang="ko-KR" altLang="en-US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761167"/>
                  </a:ext>
                </a:extLst>
              </a:tr>
              <a:tr h="779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pc="-1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BossHealthBar</a:t>
                      </a:r>
                      <a:endParaRPr lang="ko-KR" altLang="en-US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UI</a:t>
                      </a:r>
                      <a:r>
                        <a:rPr lang="en-US" altLang="ko-KR" baseline="0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</a:t>
                      </a:r>
                      <a:r>
                        <a:rPr lang="ko-KR" altLang="en-US" baseline="0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활성화 </a:t>
                      </a:r>
                      <a:r>
                        <a:rPr lang="en-US" altLang="ko-KR" baseline="0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/ </a:t>
                      </a:r>
                      <a:r>
                        <a:rPr lang="ko-KR" altLang="en-US" baseline="0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비활성화 </a:t>
                      </a:r>
                      <a:r>
                        <a:rPr lang="en-US" altLang="ko-KR" baseline="0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: </a:t>
                      </a:r>
                      <a:r>
                        <a:rPr lang="ko-KR" altLang="en-US" baseline="0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필요시</a:t>
                      </a:r>
                      <a:r>
                        <a:rPr lang="en-US" altLang="ko-KR" baseline="0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</a:t>
                      </a:r>
                      <a:r>
                        <a:rPr lang="en-US" altLang="ko-KR" baseline="0" dirty="0" err="1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ShowBossUI</a:t>
                      </a:r>
                      <a:r>
                        <a:rPr lang="en-US" altLang="ko-KR" baseline="0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(), </a:t>
                      </a:r>
                      <a:r>
                        <a:rPr lang="en-US" altLang="ko-KR" baseline="0" dirty="0" err="1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HiddenBossUI</a:t>
                      </a:r>
                      <a:r>
                        <a:rPr lang="en-US" altLang="ko-KR" baseline="0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()</a:t>
                      </a:r>
                      <a:r>
                        <a:rPr lang="ko-KR" altLang="en-US" baseline="0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를 호출함</a:t>
                      </a:r>
                      <a:endParaRPr lang="en-US" altLang="ko-KR" baseline="0" dirty="0" smtClean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  <a:p>
                      <a:pPr algn="ctr"/>
                      <a:r>
                        <a:rPr lang="ko-KR" altLang="en-US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실시간 체력 동기화 </a:t>
                      </a:r>
                      <a:r>
                        <a:rPr lang="en-US" altLang="ko-KR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: </a:t>
                      </a:r>
                      <a:r>
                        <a:rPr lang="en-US" altLang="ko-KR" dirty="0" err="1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UpdateHP</a:t>
                      </a:r>
                      <a:r>
                        <a:rPr lang="en-US" altLang="ko-KR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()</a:t>
                      </a:r>
                      <a:r>
                        <a:rPr lang="ko-KR" altLang="en-US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를 호출하여 동기화</a:t>
                      </a:r>
                      <a:endParaRPr lang="ko-KR" altLang="en-US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2346459"/>
                  </a:ext>
                </a:extLst>
              </a:tr>
              <a:tr h="779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pc="-1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SoundManager</a:t>
                      </a:r>
                      <a:endParaRPr lang="ko-KR" altLang="en-US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효과음 재생 </a:t>
                      </a:r>
                      <a:r>
                        <a:rPr lang="en-US" altLang="ko-KR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: </a:t>
                      </a:r>
                      <a:r>
                        <a:rPr lang="en-US" altLang="ko-KR" dirty="0" err="1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PlaySFX</a:t>
                      </a:r>
                      <a:r>
                        <a:rPr lang="en-US" altLang="ko-KR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()</a:t>
                      </a:r>
                      <a:r>
                        <a:rPr lang="ko-KR" altLang="en-US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에 클립을 넘겨주는 방식으로 재생</a:t>
                      </a:r>
                      <a:endParaRPr lang="ko-KR" altLang="en-US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987343"/>
                  </a:ext>
                </a:extLst>
              </a:tr>
              <a:tr h="779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pc="-1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RoomManager</a:t>
                      </a:r>
                      <a:endParaRPr lang="ko-KR" altLang="en-US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클리어</a:t>
                      </a:r>
                      <a:r>
                        <a:rPr lang="ko-KR" altLang="en-US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 판정 </a:t>
                      </a:r>
                      <a:r>
                        <a:rPr lang="en-US" altLang="ko-KR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: </a:t>
                      </a:r>
                      <a:r>
                        <a:rPr lang="en-US" altLang="ko-KR" dirty="0" err="1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OnEnemyKilled</a:t>
                      </a:r>
                      <a:r>
                        <a:rPr lang="en-US" altLang="ko-KR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() </a:t>
                      </a:r>
                      <a:r>
                        <a:rPr lang="ko-KR" altLang="en-US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호출하여 적이 모두 처치되었음을 인지</a:t>
                      </a:r>
                      <a:endParaRPr lang="ko-KR" altLang="en-US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2089612"/>
                  </a:ext>
                </a:extLst>
              </a:tr>
              <a:tr h="779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pc="-150" dirty="0" err="1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EnemyProjectilePool</a:t>
                      </a:r>
                      <a:endParaRPr lang="ko-KR" altLang="en-US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투사체 재사용 </a:t>
                      </a:r>
                      <a:r>
                        <a:rPr lang="en-US" altLang="ko-KR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: </a:t>
                      </a:r>
                      <a:r>
                        <a:rPr lang="en-US" altLang="ko-KR" dirty="0" err="1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GetProjectile</a:t>
                      </a:r>
                      <a:r>
                        <a:rPr lang="en-US" altLang="ko-KR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()</a:t>
                      </a:r>
                      <a:r>
                        <a:rPr lang="ko-KR" altLang="en-US" dirty="0" smtClean="0"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을 호출하여 최적화</a:t>
                      </a:r>
                      <a:endParaRPr lang="ko-KR" altLang="en-US" dirty="0"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315953"/>
                  </a:ext>
                </a:extLst>
              </a:tr>
            </a:tbl>
          </a:graphicData>
        </a:graphic>
      </p:graphicFrame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F1CB8A8-1FB0-9875-E228-7C51D00D53CD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05BDE4-B9D5-3517-68BC-C47933D9B546}"/>
              </a:ext>
            </a:extLst>
          </p:cNvPr>
          <p:cNvSpPr txBox="1"/>
          <p:nvPr/>
        </p:nvSpPr>
        <p:spPr>
          <a:xfrm>
            <a:off x="678142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13CF9F-BE9A-616D-70BD-C54FC08A736F}"/>
              </a:ext>
            </a:extLst>
          </p:cNvPr>
          <p:cNvSpPr txBox="1"/>
          <p:nvPr/>
        </p:nvSpPr>
        <p:spPr>
          <a:xfrm>
            <a:off x="1763806" y="436175"/>
            <a:ext cx="1265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Singleton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536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8143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12121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Interface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7F89866-63E8-B019-ACCA-17A42A4E1DAB}"/>
              </a:ext>
            </a:extLst>
          </p:cNvPr>
          <p:cNvSpPr/>
          <p:nvPr/>
        </p:nvSpPr>
        <p:spPr>
          <a:xfrm>
            <a:off x="678143" y="2982316"/>
            <a:ext cx="2710999" cy="2715660"/>
          </a:xfrm>
          <a:prstGeom prst="roundRect">
            <a:avLst>
              <a:gd name="adj" fmla="val 2777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C9AC572-EEB6-BC24-47AD-47F8A0A5EBDE}"/>
              </a:ext>
            </a:extLst>
          </p:cNvPr>
          <p:cNvSpPr/>
          <p:nvPr/>
        </p:nvSpPr>
        <p:spPr>
          <a:xfrm>
            <a:off x="8861772" y="3027921"/>
            <a:ext cx="2710999" cy="2715659"/>
          </a:xfrm>
          <a:prstGeom prst="roundRect">
            <a:avLst>
              <a:gd name="adj" fmla="val 2777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4" name="원통형 13">
            <a:extLst>
              <a:ext uri="{FF2B5EF4-FFF2-40B4-BE49-F238E27FC236}">
                <a16:creationId xmlns:a16="http://schemas.microsoft.com/office/drawing/2014/main" id="{DEB537C2-9DCA-A08B-0435-DFA17255587F}"/>
              </a:ext>
            </a:extLst>
          </p:cNvPr>
          <p:cNvSpPr/>
          <p:nvPr/>
        </p:nvSpPr>
        <p:spPr>
          <a:xfrm>
            <a:off x="5150932" y="1512266"/>
            <a:ext cx="1952653" cy="658721"/>
          </a:xfrm>
          <a:prstGeom prst="can">
            <a:avLst>
              <a:gd name="adj" fmla="val 3465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FA507F-AA1D-1E90-3C26-68EB0AA7F76F}"/>
              </a:ext>
            </a:extLst>
          </p:cNvPr>
          <p:cNvSpPr txBox="1"/>
          <p:nvPr/>
        </p:nvSpPr>
        <p:spPr>
          <a:xfrm>
            <a:off x="5670241" y="1765523"/>
            <a:ext cx="9140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공격 주체</a:t>
            </a:r>
            <a:endParaRPr lang="ko-KR" altLang="en-US" sz="1600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9" name="양쪽 대괄호 18">
            <a:extLst>
              <a:ext uri="{FF2B5EF4-FFF2-40B4-BE49-F238E27FC236}">
                <a16:creationId xmlns:a16="http://schemas.microsoft.com/office/drawing/2014/main" id="{33EFE003-3CD6-25A0-62F3-ED33792B8B35}"/>
              </a:ext>
            </a:extLst>
          </p:cNvPr>
          <p:cNvSpPr/>
          <p:nvPr/>
        </p:nvSpPr>
        <p:spPr>
          <a:xfrm>
            <a:off x="4622854" y="3651218"/>
            <a:ext cx="2974734" cy="1125991"/>
          </a:xfrm>
          <a:prstGeom prst="bracketPair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5DD3A0-1C94-F85C-8E24-C82CC02BBF15}"/>
              </a:ext>
            </a:extLst>
          </p:cNvPr>
          <p:cNvSpPr txBox="1"/>
          <p:nvPr/>
        </p:nvSpPr>
        <p:spPr>
          <a:xfrm>
            <a:off x="4964453" y="3704219"/>
            <a:ext cx="585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효과</a:t>
            </a:r>
            <a:endParaRPr lang="ko-KR" altLang="en-US" b="1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6F824C-1BB3-D029-AAC1-C1443CED18DE}"/>
              </a:ext>
            </a:extLst>
          </p:cNvPr>
          <p:cNvSpPr txBox="1"/>
          <p:nvPr/>
        </p:nvSpPr>
        <p:spPr>
          <a:xfrm>
            <a:off x="4947055" y="4040994"/>
            <a:ext cx="295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객체 간 결합도 최소화</a:t>
            </a:r>
            <a:endParaRPr lang="ko-KR" altLang="en-US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AB17E-1F08-F0F6-E42C-0A27048962B4}"/>
              </a:ext>
            </a:extLst>
          </p:cNvPr>
          <p:cNvSpPr txBox="1"/>
          <p:nvPr/>
        </p:nvSpPr>
        <p:spPr>
          <a:xfrm>
            <a:off x="1604715" y="3498134"/>
            <a:ext cx="8947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FEBullet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17693A-7824-B5F6-5CFE-E38949491698}"/>
              </a:ext>
            </a:extLst>
          </p:cNvPr>
          <p:cNvSpPr txBox="1"/>
          <p:nvPr/>
        </p:nvSpPr>
        <p:spPr>
          <a:xfrm>
            <a:off x="1023219" y="2925821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-15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SetUp</a:t>
            </a:r>
            <a:r>
              <a:rPr lang="en-US" altLang="ko-KR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방향</a:t>
            </a:r>
            <a:r>
              <a:rPr lang="en-US" altLang="ko-KR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pc="-15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데미지</a:t>
            </a:r>
            <a:r>
              <a:rPr lang="en-US" altLang="ko-KR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1" name="원통형 13">
            <a:extLst>
              <a:ext uri="{FF2B5EF4-FFF2-40B4-BE49-F238E27FC236}">
                <a16:creationId xmlns:a16="http://schemas.microsoft.com/office/drawing/2014/main" id="{DEB537C2-9DCA-A08B-0435-DFA17255587F}"/>
              </a:ext>
            </a:extLst>
          </p:cNvPr>
          <p:cNvSpPr/>
          <p:nvPr/>
        </p:nvSpPr>
        <p:spPr>
          <a:xfrm>
            <a:off x="2481607" y="2007858"/>
            <a:ext cx="1952653" cy="658721"/>
          </a:xfrm>
          <a:prstGeom prst="can">
            <a:avLst>
              <a:gd name="adj" fmla="val 3465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DFA507F-AA1D-1E90-3C26-68EB0AA7F76F}"/>
              </a:ext>
            </a:extLst>
          </p:cNvPr>
          <p:cNvSpPr txBox="1"/>
          <p:nvPr/>
        </p:nvSpPr>
        <p:spPr>
          <a:xfrm>
            <a:off x="2937598" y="2261115"/>
            <a:ext cx="1040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err="1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IProjectile</a:t>
            </a:r>
            <a:endParaRPr lang="ko-KR" altLang="en-US" sz="1600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7" name="원통형 13">
            <a:extLst>
              <a:ext uri="{FF2B5EF4-FFF2-40B4-BE49-F238E27FC236}">
                <a16:creationId xmlns:a16="http://schemas.microsoft.com/office/drawing/2014/main" id="{DEB537C2-9DCA-A08B-0435-DFA17255587F}"/>
              </a:ext>
            </a:extLst>
          </p:cNvPr>
          <p:cNvSpPr/>
          <p:nvPr/>
        </p:nvSpPr>
        <p:spPr>
          <a:xfrm>
            <a:off x="7820257" y="2007858"/>
            <a:ext cx="1952653" cy="658721"/>
          </a:xfrm>
          <a:prstGeom prst="can">
            <a:avLst>
              <a:gd name="adj" fmla="val 3465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DFA507F-AA1D-1E90-3C26-68EB0AA7F76F}"/>
              </a:ext>
            </a:extLst>
          </p:cNvPr>
          <p:cNvSpPr txBox="1"/>
          <p:nvPr/>
        </p:nvSpPr>
        <p:spPr>
          <a:xfrm>
            <a:off x="8137590" y="2261115"/>
            <a:ext cx="13179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err="1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Idamageable</a:t>
            </a:r>
            <a:endParaRPr lang="ko-KR" altLang="en-US" sz="1600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1" name="아래쪽 화살표 10"/>
          <p:cNvSpPr/>
          <p:nvPr/>
        </p:nvSpPr>
        <p:spPr>
          <a:xfrm rot="3895012">
            <a:off x="4617571" y="1847429"/>
            <a:ext cx="301863" cy="54996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3" name="아래쪽 화살표 52"/>
          <p:cNvSpPr/>
          <p:nvPr/>
        </p:nvSpPr>
        <p:spPr>
          <a:xfrm rot="-3900000">
            <a:off x="7338570" y="1807184"/>
            <a:ext cx="301863" cy="54996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B17693A-7824-B5F6-5CFE-E38949491698}"/>
              </a:ext>
            </a:extLst>
          </p:cNvPr>
          <p:cNvSpPr txBox="1"/>
          <p:nvPr/>
        </p:nvSpPr>
        <p:spPr>
          <a:xfrm>
            <a:off x="9066956" y="2911285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-15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TakeDamage</a:t>
            </a:r>
            <a:r>
              <a:rPr lang="en-US" altLang="ko-KR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pc="-15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데미지</a:t>
            </a:r>
            <a:r>
              <a:rPr lang="en-US" altLang="ko-KR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3AB17E-1F08-F0F6-E42C-0A27048962B4}"/>
              </a:ext>
            </a:extLst>
          </p:cNvPr>
          <p:cNvSpPr txBox="1"/>
          <p:nvPr/>
        </p:nvSpPr>
        <p:spPr>
          <a:xfrm>
            <a:off x="1481569" y="4438655"/>
            <a:ext cx="1122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BossBullet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3AB17E-1F08-F0F6-E42C-0A27048962B4}"/>
              </a:ext>
            </a:extLst>
          </p:cNvPr>
          <p:cNvSpPr txBox="1"/>
          <p:nvPr/>
        </p:nvSpPr>
        <p:spPr>
          <a:xfrm>
            <a:off x="1708108" y="4901435"/>
            <a:ext cx="705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Spear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3AB17E-1F08-F0F6-E42C-0A27048962B4}"/>
              </a:ext>
            </a:extLst>
          </p:cNvPr>
          <p:cNvSpPr txBox="1"/>
          <p:nvPr/>
        </p:nvSpPr>
        <p:spPr>
          <a:xfrm>
            <a:off x="1604715" y="3993821"/>
            <a:ext cx="9124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FRBullet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3AB17E-1F08-F0F6-E42C-0A27048962B4}"/>
              </a:ext>
            </a:extLst>
          </p:cNvPr>
          <p:cNvSpPr txBox="1"/>
          <p:nvPr/>
        </p:nvSpPr>
        <p:spPr>
          <a:xfrm>
            <a:off x="9856267" y="3559506"/>
            <a:ext cx="728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Player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A3AB17E-1F08-F0F6-E42C-0A27048962B4}"/>
              </a:ext>
            </a:extLst>
          </p:cNvPr>
          <p:cNvSpPr txBox="1"/>
          <p:nvPr/>
        </p:nvSpPr>
        <p:spPr>
          <a:xfrm>
            <a:off x="9905159" y="4047196"/>
            <a:ext cx="6303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Boss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3AB17E-1F08-F0F6-E42C-0A27048962B4}"/>
              </a:ext>
            </a:extLst>
          </p:cNvPr>
          <p:cNvSpPr txBox="1"/>
          <p:nvPr/>
        </p:nvSpPr>
        <p:spPr>
          <a:xfrm>
            <a:off x="9817963" y="4517520"/>
            <a:ext cx="7986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Enemy</a:t>
            </a:r>
            <a:endParaRPr lang="ko-KR" altLang="en-US" sz="1600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6F824C-1BB3-D029-AAC1-C1443CED18DE}"/>
              </a:ext>
            </a:extLst>
          </p:cNvPr>
          <p:cNvSpPr txBox="1"/>
          <p:nvPr/>
        </p:nvSpPr>
        <p:spPr>
          <a:xfrm>
            <a:off x="4947055" y="4349886"/>
            <a:ext cx="295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pc="-15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다형성</a:t>
            </a:r>
            <a:endParaRPr lang="ko-KR" altLang="en-US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2" name="아래쪽 화살표 61"/>
          <p:cNvSpPr/>
          <p:nvPr/>
        </p:nvSpPr>
        <p:spPr>
          <a:xfrm rot="3895012">
            <a:off x="2805479" y="2661541"/>
            <a:ext cx="264238" cy="323272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3" name="아래쪽 화살표 62"/>
          <p:cNvSpPr/>
          <p:nvPr/>
        </p:nvSpPr>
        <p:spPr>
          <a:xfrm rot="-3900000">
            <a:off x="8874234" y="2689701"/>
            <a:ext cx="237904" cy="323928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640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8143" y="482342"/>
            <a:ext cx="6206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2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2515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기술적으로 어려웠던 점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F05047D-06FA-ADC0-CFE2-7285DA6FA563}"/>
              </a:ext>
            </a:extLst>
          </p:cNvPr>
          <p:cNvCxnSpPr/>
          <p:nvPr/>
        </p:nvCxnSpPr>
        <p:spPr>
          <a:xfrm>
            <a:off x="6096000" y="1260088"/>
            <a:ext cx="0" cy="475041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B19F0C-0902-54C5-BED8-05DE9B4A2A40}"/>
              </a:ext>
            </a:extLst>
          </p:cNvPr>
          <p:cNvSpPr/>
          <p:nvPr/>
        </p:nvSpPr>
        <p:spPr>
          <a:xfrm>
            <a:off x="495300" y="1260088"/>
            <a:ext cx="5129448" cy="27655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2D3366A-4BDE-9C8A-D2D2-3BFE92B7D7B0}"/>
              </a:ext>
            </a:extLst>
          </p:cNvPr>
          <p:cNvGrpSpPr/>
          <p:nvPr/>
        </p:nvGrpSpPr>
        <p:grpSpPr>
          <a:xfrm>
            <a:off x="495300" y="4594301"/>
            <a:ext cx="5129442" cy="1416205"/>
            <a:chOff x="5145535" y="2887765"/>
            <a:chExt cx="1952653" cy="658721"/>
          </a:xfrm>
        </p:grpSpPr>
        <p:sp>
          <p:nvSpPr>
            <p:cNvPr id="7" name="원통형 6">
              <a:extLst>
                <a:ext uri="{FF2B5EF4-FFF2-40B4-BE49-F238E27FC236}">
                  <a16:creationId xmlns:a16="http://schemas.microsoft.com/office/drawing/2014/main" id="{E1B62689-83B4-2C89-6413-59B9989D083D}"/>
                </a:ext>
              </a:extLst>
            </p:cNvPr>
            <p:cNvSpPr/>
            <p:nvPr/>
          </p:nvSpPr>
          <p:spPr>
            <a:xfrm>
              <a:off x="5145535" y="2887765"/>
              <a:ext cx="1952653" cy="658721"/>
            </a:xfrm>
            <a:prstGeom prst="can">
              <a:avLst>
                <a:gd name="adj" fmla="val 3465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15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48D203C-780A-D164-3A52-2AC6A8175FC7}"/>
                </a:ext>
              </a:extLst>
            </p:cNvPr>
            <p:cNvSpPr txBox="1"/>
            <p:nvPr/>
          </p:nvSpPr>
          <p:spPr>
            <a:xfrm>
              <a:off x="5909165" y="3226511"/>
              <a:ext cx="481589" cy="186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spc="-150" dirty="0" smtClean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Singleton</a:t>
              </a:r>
              <a:endParaRPr lang="ko-KR" altLang="en-US" sz="2000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054E6BC-EE71-A115-F798-F79138541565}"/>
              </a:ext>
            </a:extLst>
          </p:cNvPr>
          <p:cNvSpPr txBox="1"/>
          <p:nvPr/>
        </p:nvSpPr>
        <p:spPr>
          <a:xfrm>
            <a:off x="752857" y="2005290"/>
            <a:ext cx="2937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pc="-15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FindGameObjectWithTag</a:t>
            </a:r>
            <a:r>
              <a:rPr lang="en-US" altLang="ko-KR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()</a:t>
            </a:r>
            <a:endParaRPr lang="ko-KR" altLang="en-US" b="1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F502D86-01F8-516F-1577-B8A55593542E}"/>
              </a:ext>
            </a:extLst>
          </p:cNvPr>
          <p:cNvSpPr/>
          <p:nvPr/>
        </p:nvSpPr>
        <p:spPr>
          <a:xfrm>
            <a:off x="6591300" y="1260087"/>
            <a:ext cx="5129448" cy="27655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2832884-607C-AD19-E077-83A7413F2E24}"/>
              </a:ext>
            </a:extLst>
          </p:cNvPr>
          <p:cNvGrpSpPr/>
          <p:nvPr/>
        </p:nvGrpSpPr>
        <p:grpSpPr>
          <a:xfrm>
            <a:off x="6591300" y="4594300"/>
            <a:ext cx="5129442" cy="1416205"/>
            <a:chOff x="5145535" y="2887765"/>
            <a:chExt cx="1952653" cy="658721"/>
          </a:xfrm>
        </p:grpSpPr>
        <p:sp>
          <p:nvSpPr>
            <p:cNvPr id="31" name="원통형 30">
              <a:extLst>
                <a:ext uri="{FF2B5EF4-FFF2-40B4-BE49-F238E27FC236}">
                  <a16:creationId xmlns:a16="http://schemas.microsoft.com/office/drawing/2014/main" id="{EE0529B5-F65B-6B1A-E010-0BC0FE111605}"/>
                </a:ext>
              </a:extLst>
            </p:cNvPr>
            <p:cNvSpPr/>
            <p:nvPr/>
          </p:nvSpPr>
          <p:spPr>
            <a:xfrm>
              <a:off x="5145535" y="2887765"/>
              <a:ext cx="1952653" cy="658721"/>
            </a:xfrm>
            <a:prstGeom prst="can">
              <a:avLst>
                <a:gd name="adj" fmla="val 34658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150"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4F88ABE-8B9A-5B5D-EE2F-D3CD7843E0A0}"/>
                </a:ext>
              </a:extLst>
            </p:cNvPr>
            <p:cNvSpPr txBox="1"/>
            <p:nvPr/>
          </p:nvSpPr>
          <p:spPr>
            <a:xfrm>
              <a:off x="5742881" y="3226511"/>
              <a:ext cx="814161" cy="186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spc="-150" dirty="0" err="1" smtClean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Coroutine</a:t>
              </a:r>
              <a:r>
                <a:rPr lang="en-US" altLang="ko-KR" sz="2000" spc="-150" dirty="0" smtClean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, Gizmo</a:t>
              </a:r>
              <a:endParaRPr lang="ko-KR" altLang="en-US" sz="2000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054E6BC-EE71-A115-F798-F79138541565}"/>
              </a:ext>
            </a:extLst>
          </p:cNvPr>
          <p:cNvSpPr txBox="1"/>
          <p:nvPr/>
        </p:nvSpPr>
        <p:spPr>
          <a:xfrm>
            <a:off x="752857" y="2654099"/>
            <a:ext cx="46506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모든 몬스터 스크립트가 매 프레임 함수를 호출하여</a:t>
            </a:r>
            <a:endParaRPr lang="en-US" altLang="ko-KR" b="1" spc="-150" dirty="0" smtClean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플레이어 태그를 조사해 </a:t>
            </a:r>
            <a:r>
              <a:rPr lang="ko-KR" altLang="en-US" b="1" spc="-15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연산량이</a:t>
            </a:r>
            <a:r>
              <a:rPr lang="ko-KR" altLang="en-US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높은 문제가 발생 </a:t>
            </a:r>
            <a:endParaRPr lang="ko-KR" altLang="en-US" b="1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4E6BC-EE71-A115-F798-F79138541565}"/>
              </a:ext>
            </a:extLst>
          </p:cNvPr>
          <p:cNvSpPr txBox="1"/>
          <p:nvPr/>
        </p:nvSpPr>
        <p:spPr>
          <a:xfrm>
            <a:off x="6847400" y="200529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Enemy Attack</a:t>
            </a:r>
            <a:endParaRPr lang="ko-KR" altLang="en-US" b="1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54E6BC-EE71-A115-F798-F79138541565}"/>
              </a:ext>
            </a:extLst>
          </p:cNvPr>
          <p:cNvSpPr txBox="1"/>
          <p:nvPr/>
        </p:nvSpPr>
        <p:spPr>
          <a:xfrm>
            <a:off x="6847400" y="2473494"/>
            <a:ext cx="4854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몬스터가 </a:t>
            </a:r>
            <a:r>
              <a:rPr lang="ko-KR" altLang="en-US" b="1" spc="-150" dirty="0" err="1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공격시</a:t>
            </a:r>
            <a:r>
              <a:rPr lang="ko-KR" altLang="en-US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애니메이션</a:t>
            </a:r>
            <a:r>
              <a:rPr lang="en-US" altLang="ko-KR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투사체 타이밍</a:t>
            </a:r>
            <a:r>
              <a:rPr lang="en-US" altLang="ko-KR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사운드가</a:t>
            </a:r>
            <a:endParaRPr lang="en-US" altLang="ko-KR" b="1" spc="-150" dirty="0" smtClean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맞지 않아 문제가 발생</a:t>
            </a:r>
            <a:endParaRPr lang="ko-KR" altLang="en-US" b="1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54E6BC-EE71-A115-F798-F79138541565}"/>
              </a:ext>
            </a:extLst>
          </p:cNvPr>
          <p:cNvSpPr txBox="1"/>
          <p:nvPr/>
        </p:nvSpPr>
        <p:spPr>
          <a:xfrm>
            <a:off x="6847400" y="3102903"/>
            <a:ext cx="4851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정확한 몬스터의 공격 범위를 알기 힘들어 피격 범위를</a:t>
            </a:r>
            <a:r>
              <a:rPr lang="en-US" altLang="ko-KR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/>
            </a:r>
            <a:br>
              <a:rPr lang="en-US" altLang="ko-KR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ko-KR" altLang="en-US" b="1" spc="-150" dirty="0" smtClean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설정하는데 어려움을 겪음</a:t>
            </a:r>
            <a:endParaRPr lang="ko-KR" altLang="en-US" b="1" spc="-15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640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888451F-90C1-1D78-6DAA-A8A7A59ADE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7A417F5-7DB5-5C7A-07CA-386BA632EE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9D9150-B446-E90B-CD69-1034691F48AE}"/>
              </a:ext>
            </a:extLst>
          </p:cNvPr>
          <p:cNvSpPr txBox="1"/>
          <p:nvPr/>
        </p:nvSpPr>
        <p:spPr>
          <a:xfrm>
            <a:off x="5585283" y="1098393"/>
            <a:ext cx="1021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3</a:t>
            </a:r>
            <a:endParaRPr lang="ko-KR" altLang="en-US" sz="2400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A8AFD-AD83-37E2-4AD3-2F2E202BC710}"/>
              </a:ext>
            </a:extLst>
          </p:cNvPr>
          <p:cNvSpPr txBox="1"/>
          <p:nvPr/>
        </p:nvSpPr>
        <p:spPr>
          <a:xfrm>
            <a:off x="4761342" y="1655953"/>
            <a:ext cx="26693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게임 시연</a:t>
            </a:r>
            <a:endParaRPr lang="ko-KR" altLang="en-US" sz="48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56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원, 스크린샷, 빛이(가) 표시된 사진&#10;&#10;자동 생성된 설명">
            <a:extLst>
              <a:ext uri="{FF2B5EF4-FFF2-40B4-BE49-F238E27FC236}">
                <a16:creationId xmlns:a16="http://schemas.microsoft.com/office/drawing/2014/main" id="{147AAC61-C6B4-0047-6EBB-0AD152A0000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2AB5053-F0D3-150A-849F-236F9C4DB1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0051394-3D52-53A4-6FA3-B61CC3B64734}"/>
              </a:ext>
            </a:extLst>
          </p:cNvPr>
          <p:cNvGrpSpPr/>
          <p:nvPr/>
        </p:nvGrpSpPr>
        <p:grpSpPr>
          <a:xfrm>
            <a:off x="3810763" y="4510666"/>
            <a:ext cx="4570482" cy="1388557"/>
            <a:chOff x="3810763" y="1098393"/>
            <a:chExt cx="4570482" cy="138855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1130852-040B-BB78-BE0D-3DC68632B8F8}"/>
                </a:ext>
              </a:extLst>
            </p:cNvPr>
            <p:cNvSpPr txBox="1"/>
            <p:nvPr/>
          </p:nvSpPr>
          <p:spPr>
            <a:xfrm>
              <a:off x="5638182" y="1098393"/>
              <a:ext cx="9156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400" spc="-150" dirty="0">
                  <a:solidFill>
                    <a:schemeClr val="bg1"/>
                  </a:solidFill>
                </a:rPr>
                <a:t>Part 4</a:t>
              </a:r>
              <a:endParaRPr lang="ko-KR" altLang="en-US" sz="2400" spc="-150" dirty="0">
                <a:solidFill>
                  <a:schemeClr val="bg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8687F3-4141-96B7-6737-9FE7AE5EA509}"/>
                </a:ext>
              </a:extLst>
            </p:cNvPr>
            <p:cNvSpPr txBox="1"/>
            <p:nvPr/>
          </p:nvSpPr>
          <p:spPr>
            <a:xfrm>
              <a:off x="3810763" y="1655953"/>
              <a:ext cx="457048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4800" b="1" spc="-150" dirty="0" smtClean="0">
                  <a:solidFill>
                    <a:schemeClr val="bg1"/>
                  </a:solidFill>
                  <a:latin typeface="나눔스퀘어 네오 Bold" panose="00000800000000000000" pitchFamily="2" charset="-127"/>
                  <a:ea typeface="나눔스퀘어 네오 Bold" panose="00000800000000000000" pitchFamily="2" charset="-127"/>
                </a:rPr>
                <a:t>평가 및 질의응답</a:t>
              </a:r>
              <a:endParaRPr lang="ko-KR" altLang="en-US" sz="48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712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9557657" y="6126742"/>
            <a:ext cx="2634343" cy="7312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0180A3-F5A7-36C1-BD5C-A92ED4B97E64}"/>
              </a:ext>
            </a:extLst>
          </p:cNvPr>
          <p:cNvSpPr/>
          <p:nvPr/>
        </p:nvSpPr>
        <p:spPr>
          <a:xfrm>
            <a:off x="495300" y="419100"/>
            <a:ext cx="986367" cy="434261"/>
          </a:xfrm>
          <a:prstGeom prst="roundRect">
            <a:avLst>
              <a:gd name="adj" fmla="val 3707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B15D6E-CA28-116D-3609-6993B210B0B7}"/>
              </a:ext>
            </a:extLst>
          </p:cNvPr>
          <p:cNvSpPr txBox="1"/>
          <p:nvPr/>
        </p:nvSpPr>
        <p:spPr>
          <a:xfrm>
            <a:off x="674936" y="482342"/>
            <a:ext cx="6270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spc="-15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Part </a:t>
            </a:r>
            <a:r>
              <a:rPr lang="en-US" altLang="ko-KR" sz="1400" b="1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4</a:t>
            </a:r>
            <a:endParaRPr lang="ko-KR" altLang="en-US" sz="1400" b="1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30CB5C-D9ED-B0CD-6915-3A3838545168}"/>
              </a:ext>
            </a:extLst>
          </p:cNvPr>
          <p:cNvSpPr txBox="1"/>
          <p:nvPr/>
        </p:nvSpPr>
        <p:spPr>
          <a:xfrm>
            <a:off x="1763806" y="436175"/>
            <a:ext cx="16177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spc="-1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목표 달성 평가</a:t>
            </a:r>
            <a:endParaRPr lang="ko-KR" altLang="en-US" sz="2000" b="1" spc="-150" dirty="0">
              <a:solidFill>
                <a:schemeClr val="tx1">
                  <a:lumMod val="85000"/>
                  <a:lumOff val="1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5806B7F-1B30-8C86-E691-522F0F302E7E}"/>
              </a:ext>
            </a:extLst>
          </p:cNvPr>
          <p:cNvSpPr/>
          <p:nvPr/>
        </p:nvSpPr>
        <p:spPr>
          <a:xfrm>
            <a:off x="880649" y="3327404"/>
            <a:ext cx="4001751" cy="210725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0DB8EB6-B059-81BB-6282-96BF91FE18FE}"/>
              </a:ext>
            </a:extLst>
          </p:cNvPr>
          <p:cNvSpPr/>
          <p:nvPr/>
        </p:nvSpPr>
        <p:spPr>
          <a:xfrm>
            <a:off x="880649" y="1443035"/>
            <a:ext cx="4001751" cy="7193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07B7521-B20F-1F4C-10B1-0A3F4DBCF49E}"/>
              </a:ext>
            </a:extLst>
          </p:cNvPr>
          <p:cNvSpPr/>
          <p:nvPr/>
        </p:nvSpPr>
        <p:spPr>
          <a:xfrm>
            <a:off x="880649" y="2354827"/>
            <a:ext cx="4001751" cy="7193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D00DA1-286F-868E-9A90-976E80C6AF85}"/>
              </a:ext>
            </a:extLst>
          </p:cNvPr>
          <p:cNvSpPr/>
          <p:nvPr/>
        </p:nvSpPr>
        <p:spPr>
          <a:xfrm>
            <a:off x="880649" y="5606883"/>
            <a:ext cx="4001751" cy="71930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C3413C-0BAA-22FE-A8FB-E7CE7C831FA4}"/>
              </a:ext>
            </a:extLst>
          </p:cNvPr>
          <p:cNvSpPr/>
          <p:nvPr/>
        </p:nvSpPr>
        <p:spPr>
          <a:xfrm>
            <a:off x="1232701" y="3689549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AA0FEFC-0E7F-CECC-DD46-8E869B0994F0}"/>
              </a:ext>
            </a:extLst>
          </p:cNvPr>
          <p:cNvSpPr/>
          <p:nvPr/>
        </p:nvSpPr>
        <p:spPr>
          <a:xfrm>
            <a:off x="1232701" y="4570948"/>
            <a:ext cx="3297645" cy="5927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0F6AF3E-48B1-5560-920D-467EB44AD0D1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2881525" y="2162337"/>
            <a:ext cx="0" cy="19249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12D76A21-AEF5-3477-BED0-42B7B117AC15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881525" y="3074129"/>
            <a:ext cx="0" cy="253275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CD959C8-A2AD-5AF3-6C8F-EBF1B01225FA}"/>
              </a:ext>
            </a:extLst>
          </p:cNvPr>
          <p:cNvCxnSpPr/>
          <p:nvPr/>
        </p:nvCxnSpPr>
        <p:spPr>
          <a:xfrm>
            <a:off x="2881525" y="5434656"/>
            <a:ext cx="0" cy="192490"/>
          </a:xfrm>
          <a:prstGeom prst="straightConnector1">
            <a:avLst/>
          </a:prstGeom>
          <a:ln w="3810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EB3D2E1-9B6F-7143-5158-A1672E8CA4D6}"/>
              </a:ext>
            </a:extLst>
          </p:cNvPr>
          <p:cNvSpPr txBox="1"/>
          <p:nvPr/>
        </p:nvSpPr>
        <p:spPr>
          <a:xfrm>
            <a:off x="2370005" y="1618020"/>
            <a:ext cx="1023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시작 화면</a:t>
            </a:r>
            <a:endParaRPr lang="ko-KR" altLang="en-US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086BB0-FC85-3A90-7518-C09E070C4E21}"/>
              </a:ext>
            </a:extLst>
          </p:cNvPr>
          <p:cNvSpPr txBox="1"/>
          <p:nvPr/>
        </p:nvSpPr>
        <p:spPr>
          <a:xfrm>
            <a:off x="2588814" y="2532570"/>
            <a:ext cx="585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로비</a:t>
            </a:r>
            <a:endParaRPr lang="ko-KR" altLang="en-US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437C91-DB3D-57AF-1AAA-4937DFF7D211}"/>
              </a:ext>
            </a:extLst>
          </p:cNvPr>
          <p:cNvSpPr txBox="1"/>
          <p:nvPr/>
        </p:nvSpPr>
        <p:spPr>
          <a:xfrm>
            <a:off x="2318710" y="3788553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게임 패배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A98BCE-3A93-B9BF-180E-1D857D1CB75D}"/>
              </a:ext>
            </a:extLst>
          </p:cNvPr>
          <p:cNvSpPr txBox="1"/>
          <p:nvPr/>
        </p:nvSpPr>
        <p:spPr>
          <a:xfrm>
            <a:off x="2318709" y="4667263"/>
            <a:ext cx="1125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게임 승리</a:t>
            </a:r>
            <a:endParaRPr lang="ko-KR" altLang="en-US" sz="20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4F911C-9626-CB25-883A-D64AA52AAEEE}"/>
              </a:ext>
            </a:extLst>
          </p:cNvPr>
          <p:cNvSpPr txBox="1"/>
          <p:nvPr/>
        </p:nvSpPr>
        <p:spPr>
          <a:xfrm>
            <a:off x="2516680" y="5736014"/>
            <a:ext cx="7296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150" dirty="0" smtClean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로비</a:t>
            </a:r>
            <a:endParaRPr lang="ko-KR" altLang="en-US" sz="2400" spc="-15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A2E1FA9-A180-0670-3FD3-C88ABAE84E6B}"/>
              </a:ext>
            </a:extLst>
          </p:cNvPr>
          <p:cNvSpPr/>
          <p:nvPr/>
        </p:nvSpPr>
        <p:spPr>
          <a:xfrm>
            <a:off x="5169919" y="1443036"/>
            <a:ext cx="6152470" cy="4932622"/>
          </a:xfrm>
          <a:prstGeom prst="rect">
            <a:avLst/>
          </a:prstGeom>
          <a:solidFill>
            <a:srgbClr val="EB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A0E570-95AE-39A1-8F45-D488CEE13E7B}"/>
              </a:ext>
            </a:extLst>
          </p:cNvPr>
          <p:cNvSpPr txBox="1"/>
          <p:nvPr/>
        </p:nvSpPr>
        <p:spPr>
          <a:xfrm>
            <a:off x="5561286" y="3666695"/>
            <a:ext cx="5369736" cy="9787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ko-KR" sz="48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</a:t>
            </a:r>
            <a:r>
              <a:rPr lang="ko-KR" altLang="en-US" sz="48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는 만능이 아니다</a:t>
            </a:r>
            <a:r>
              <a:rPr lang="en-US" altLang="ko-KR" sz="48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endParaRPr lang="ko-KR" altLang="en-US" sz="48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B4FCEB-8183-4B3C-E3BB-6F8E2B0B59EC}"/>
              </a:ext>
            </a:extLst>
          </p:cNvPr>
          <p:cNvSpPr txBox="1"/>
          <p:nvPr/>
        </p:nvSpPr>
        <p:spPr>
          <a:xfrm>
            <a:off x="5608409" y="2499440"/>
            <a:ext cx="1664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2400" spc="-1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사용 평가</a:t>
            </a:r>
            <a:endParaRPr lang="ko-KR" altLang="en-US" sz="2400" spc="-150" dirty="0">
              <a:solidFill>
                <a:schemeClr val="tx1">
                  <a:lumMod val="75000"/>
                  <a:lumOff val="25000"/>
                </a:schemeClr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32C4D25D-29EF-22D4-EA8A-797224D5A361}"/>
              </a:ext>
            </a:extLst>
          </p:cNvPr>
          <p:cNvCxnSpPr>
            <a:cxnSpLocks/>
          </p:cNvCxnSpPr>
          <p:nvPr/>
        </p:nvCxnSpPr>
        <p:spPr>
          <a:xfrm>
            <a:off x="5516901" y="3228456"/>
            <a:ext cx="398804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곱셈 기호 1"/>
          <p:cNvSpPr/>
          <p:nvPr/>
        </p:nvSpPr>
        <p:spPr>
          <a:xfrm>
            <a:off x="2081423" y="1857600"/>
            <a:ext cx="1600200" cy="18012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9" name="곱셈 기호 28"/>
          <p:cNvSpPr/>
          <p:nvPr/>
        </p:nvSpPr>
        <p:spPr>
          <a:xfrm>
            <a:off x="2081423" y="5161025"/>
            <a:ext cx="1600200" cy="1801232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5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210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/>
      <p:bldP spid="2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빛, 흑백이(가) 표시된 사진&#10;&#10;중간 신뢰도로 자동 생성된 설명">
            <a:extLst>
              <a:ext uri="{FF2B5EF4-FFF2-40B4-BE49-F238E27FC236}">
                <a16:creationId xmlns:a16="http://schemas.microsoft.com/office/drawing/2014/main" id="{56B385BE-4217-8E4C-6253-2F9845265CC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B1A68B-4935-40C4-F831-10CC91FD0D4B}"/>
              </a:ext>
            </a:extLst>
          </p:cNvPr>
          <p:cNvSpPr txBox="1"/>
          <p:nvPr/>
        </p:nvSpPr>
        <p:spPr>
          <a:xfrm>
            <a:off x="479503" y="412596"/>
            <a:ext cx="258115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Q&amp;A</a:t>
            </a:r>
            <a:endParaRPr lang="ko-KR" altLang="en-US" sz="80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400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벽, 화이트, 냉장고이(가) 표시된 사진&#10;&#10;자동 생성된 설명">
            <a:extLst>
              <a:ext uri="{FF2B5EF4-FFF2-40B4-BE49-F238E27FC236}">
                <a16:creationId xmlns:a16="http://schemas.microsoft.com/office/drawing/2014/main" id="{37E64327-4183-A222-E4A3-F6982B2EDC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0C412A-BC2E-2F73-FF9A-7FF93458EE42}"/>
              </a:ext>
            </a:extLst>
          </p:cNvPr>
          <p:cNvSpPr txBox="1"/>
          <p:nvPr/>
        </p:nvSpPr>
        <p:spPr>
          <a:xfrm>
            <a:off x="5951621" y="4531911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0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Fin.</a:t>
            </a:r>
            <a:endParaRPr lang="ko-KR" altLang="en-US" sz="10000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717539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18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5264E"/>
      </a:accent1>
      <a:accent2>
        <a:srgbClr val="3F668F"/>
      </a:accent2>
      <a:accent3>
        <a:srgbClr val="4A7ECA"/>
      </a:accent3>
      <a:accent4>
        <a:srgbClr val="B28659"/>
      </a:accent4>
      <a:accent5>
        <a:srgbClr val="FDC467"/>
      </a:accent5>
      <a:accent6>
        <a:srgbClr val="E5D8C9"/>
      </a:accent6>
      <a:hlink>
        <a:srgbClr val="262626"/>
      </a:hlink>
      <a:folHlink>
        <a:srgbClr val="262626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396</Words>
  <Application>Microsoft Office PowerPoint</Application>
  <PresentationFormat>와이드스크린</PresentationFormat>
  <Paragraphs>170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Calibri</vt:lpstr>
      <vt:lpstr>맑은 고딕</vt:lpstr>
      <vt:lpstr>나눔스퀘어 네오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user</cp:lastModifiedBy>
  <cp:revision>65</cp:revision>
  <dcterms:created xsi:type="dcterms:W3CDTF">2023-04-24T02:25:46Z</dcterms:created>
  <dcterms:modified xsi:type="dcterms:W3CDTF">2026-04-29T08:19:13Z</dcterms:modified>
</cp:coreProperties>
</file>